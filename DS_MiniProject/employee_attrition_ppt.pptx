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Heebo Heavy" charset="1" panose="00000A00000000000000"/>
      <p:regular r:id="rId48"/>
    </p:embeddedFont>
    <p:embeddedFont>
      <p:font typeface="Heebo" charset="1" panose="00000500000000000000"/>
      <p:regular r:id="rId49"/>
    </p:embeddedFont>
    <p:embeddedFont>
      <p:font typeface="Heebo Bold" charset="1" panose="00000800000000000000"/>
      <p:regular r:id="rId50"/>
    </p:embeddedFont>
    <p:embeddedFont>
      <p:font typeface="Heebo Medium" charset="1" panose="000006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12822843" y="4405793"/>
            <a:ext cx="6589035" cy="7859550"/>
            <a:chOff x="0" y="0"/>
            <a:chExt cx="8785381" cy="10479400"/>
          </a:xfrm>
        </p:grpSpPr>
        <p:grpSp>
          <p:nvGrpSpPr>
            <p:cNvPr name="Group 3" id="3"/>
            <p:cNvGrpSpPr/>
            <p:nvPr/>
          </p:nvGrpSpPr>
          <p:grpSpPr>
            <a:xfrm rot="-2700000">
              <a:off x="1178136" y="2292683"/>
              <a:ext cx="7698563" cy="293056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5" id="5"/>
              <p:cNvSpPr txBox="true"/>
              <p:nvPr/>
            </p:nvSpPr>
            <p:spPr>
              <a:xfrm>
                <a:off x="0" y="-28575"/>
                <a:ext cx="882773" cy="364614"/>
              </a:xfrm>
              <a:prstGeom prst="rect">
                <a:avLst/>
              </a:prstGeom>
            </p:spPr>
            <p:txBody>
              <a:bodyPr anchor="ctr" rtlCol="false" tIns="50800" lIns="50800" bIns="50800" rIns="50800"/>
              <a:lstStyle/>
              <a:p>
                <a:pPr algn="ctr">
                  <a:lnSpc>
                    <a:spcPts val="2359"/>
                  </a:lnSpc>
                </a:pPr>
              </a:p>
            </p:txBody>
          </p:sp>
        </p:grpSp>
        <p:grpSp>
          <p:nvGrpSpPr>
            <p:cNvPr name="Group 6" id="6"/>
            <p:cNvGrpSpPr/>
            <p:nvPr/>
          </p:nvGrpSpPr>
          <p:grpSpPr>
            <a:xfrm rot="-2700000">
              <a:off x="-188797" y="5096360"/>
              <a:ext cx="8257362" cy="2886312"/>
              <a:chOff x="0" y="0"/>
              <a:chExt cx="1162657" cy="406400"/>
            </a:xfrm>
          </p:grpSpPr>
          <p:sp>
            <p:nvSpPr>
              <p:cNvPr name="Freeform 7" id="7"/>
              <p:cNvSpPr/>
              <p:nvPr/>
            </p:nvSpPr>
            <p:spPr>
              <a:xfrm flipH="false" flipV="false" rot="0">
                <a:off x="17780" y="22860"/>
                <a:ext cx="1137257" cy="360680"/>
              </a:xfrm>
              <a:custGeom>
                <a:avLst/>
                <a:gdLst/>
                <a:ahLst/>
                <a:cxnLst/>
                <a:rect r="r" b="b" t="t" l="l"/>
                <a:pathLst>
                  <a:path h="360680" w="1137257">
                    <a:moveTo>
                      <a:pt x="1137257" y="180340"/>
                    </a:moveTo>
                    <a:cubicBezTo>
                      <a:pt x="1137257" y="81280"/>
                      <a:pt x="1057248" y="0"/>
                      <a:pt x="956917" y="0"/>
                    </a:cubicBezTo>
                    <a:lnTo>
                      <a:pt x="172720" y="0"/>
                    </a:lnTo>
                    <a:lnTo>
                      <a:pt x="172720" y="1270"/>
                    </a:lnTo>
                    <a:cubicBezTo>
                      <a:pt x="76200" y="5080"/>
                      <a:pt x="0" y="83820"/>
                      <a:pt x="0" y="180340"/>
                    </a:cubicBezTo>
                    <a:cubicBezTo>
                      <a:pt x="0" y="276860"/>
                      <a:pt x="77470" y="355600"/>
                      <a:pt x="172720" y="359410"/>
                    </a:cubicBezTo>
                    <a:lnTo>
                      <a:pt x="172720" y="360680"/>
                    </a:lnTo>
                    <a:lnTo>
                      <a:pt x="956917" y="360680"/>
                    </a:lnTo>
                    <a:cubicBezTo>
                      <a:pt x="1055977" y="360680"/>
                      <a:pt x="1137257" y="279400"/>
                      <a:pt x="1137257" y="180340"/>
                    </a:cubicBezTo>
                    <a:close/>
                  </a:path>
                </a:pathLst>
              </a:custGeom>
              <a:solidFill>
                <a:srgbClr val="FFCE00"/>
              </a:solidFill>
            </p:spPr>
          </p:sp>
        </p:grpSp>
      </p:grpSp>
      <p:grpSp>
        <p:nvGrpSpPr>
          <p:cNvPr name="Group 8" id="8"/>
          <p:cNvGrpSpPr/>
          <p:nvPr/>
        </p:nvGrpSpPr>
        <p:grpSpPr>
          <a:xfrm rot="0">
            <a:off x="10034429" y="-932515"/>
            <a:ext cx="3645080" cy="4537168"/>
            <a:chOff x="0" y="0"/>
            <a:chExt cx="4860107" cy="6049557"/>
          </a:xfrm>
        </p:grpSpPr>
        <p:grpSp>
          <p:nvGrpSpPr>
            <p:cNvPr name="Group 9" id="9"/>
            <p:cNvGrpSpPr/>
            <p:nvPr/>
          </p:nvGrpSpPr>
          <p:grpSpPr>
            <a:xfrm rot="-2700000">
              <a:off x="-55453" y="2877754"/>
              <a:ext cx="4674937" cy="1779577"/>
              <a:chOff x="0" y="0"/>
              <a:chExt cx="882773" cy="336039"/>
            </a:xfrm>
          </p:grpSpPr>
          <p:sp>
            <p:nvSpPr>
              <p:cNvPr name="Freeform 10" id="10"/>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11" id="11"/>
              <p:cNvSpPr txBox="true"/>
              <p:nvPr/>
            </p:nvSpPr>
            <p:spPr>
              <a:xfrm>
                <a:off x="0" y="-38100"/>
                <a:ext cx="882773" cy="374139"/>
              </a:xfrm>
              <a:prstGeom prst="rect">
                <a:avLst/>
              </a:prstGeom>
            </p:spPr>
            <p:txBody>
              <a:bodyPr anchor="ctr" rtlCol="false" tIns="50800" lIns="50800" bIns="50800" rIns="50800"/>
              <a:lstStyle/>
              <a:p>
                <a:pPr algn="ctr">
                  <a:lnSpc>
                    <a:spcPts val="2233"/>
                  </a:lnSpc>
                </a:pPr>
              </a:p>
            </p:txBody>
          </p:sp>
        </p:grpSp>
        <p:grpSp>
          <p:nvGrpSpPr>
            <p:cNvPr name="Group 12" id="12"/>
            <p:cNvGrpSpPr/>
            <p:nvPr/>
          </p:nvGrpSpPr>
          <p:grpSpPr>
            <a:xfrm rot="-2700000">
              <a:off x="561660" y="1200749"/>
              <a:ext cx="4216088" cy="1979307"/>
              <a:chOff x="0" y="0"/>
              <a:chExt cx="865665" cy="406400"/>
            </a:xfrm>
          </p:grpSpPr>
          <p:sp>
            <p:nvSpPr>
              <p:cNvPr name="Freeform 13" id="13"/>
              <p:cNvSpPr/>
              <p:nvPr/>
            </p:nvSpPr>
            <p:spPr>
              <a:xfrm flipH="false" flipV="false" rot="0">
                <a:off x="17780" y="22860"/>
                <a:ext cx="840266" cy="360680"/>
              </a:xfrm>
              <a:custGeom>
                <a:avLst/>
                <a:gdLst/>
                <a:ahLst/>
                <a:cxnLst/>
                <a:rect r="r" b="b" t="t" l="l"/>
                <a:pathLst>
                  <a:path h="360680" w="840266">
                    <a:moveTo>
                      <a:pt x="840266" y="180340"/>
                    </a:moveTo>
                    <a:cubicBezTo>
                      <a:pt x="840266" y="81280"/>
                      <a:pt x="760256" y="0"/>
                      <a:pt x="659925" y="0"/>
                    </a:cubicBezTo>
                    <a:lnTo>
                      <a:pt x="172720" y="0"/>
                    </a:lnTo>
                    <a:lnTo>
                      <a:pt x="172720" y="1270"/>
                    </a:lnTo>
                    <a:cubicBezTo>
                      <a:pt x="76200" y="5080"/>
                      <a:pt x="0" y="83820"/>
                      <a:pt x="0" y="180340"/>
                    </a:cubicBezTo>
                    <a:cubicBezTo>
                      <a:pt x="0" y="276860"/>
                      <a:pt x="77470" y="355600"/>
                      <a:pt x="172720" y="359410"/>
                    </a:cubicBezTo>
                    <a:lnTo>
                      <a:pt x="172720" y="360680"/>
                    </a:lnTo>
                    <a:lnTo>
                      <a:pt x="659925" y="360680"/>
                    </a:lnTo>
                    <a:cubicBezTo>
                      <a:pt x="758985" y="360680"/>
                      <a:pt x="840266" y="279400"/>
                      <a:pt x="840266" y="180340"/>
                    </a:cubicBezTo>
                    <a:close/>
                  </a:path>
                </a:pathLst>
              </a:custGeom>
              <a:solidFill>
                <a:srgbClr val="DB639C"/>
              </a:solidFill>
            </p:spPr>
          </p:sp>
        </p:grpSp>
      </p:grpSp>
      <p:grpSp>
        <p:nvGrpSpPr>
          <p:cNvPr name="Group 14" id="14"/>
          <p:cNvGrpSpPr/>
          <p:nvPr/>
        </p:nvGrpSpPr>
        <p:grpSpPr>
          <a:xfrm rot="0">
            <a:off x="-3114462" y="-2122841"/>
            <a:ext cx="9219867" cy="12257314"/>
            <a:chOff x="0" y="0"/>
            <a:chExt cx="12293157" cy="16343086"/>
          </a:xfrm>
        </p:grpSpPr>
        <p:grpSp>
          <p:nvGrpSpPr>
            <p:cNvPr name="Group 15" id="15"/>
            <p:cNvGrpSpPr/>
            <p:nvPr/>
          </p:nvGrpSpPr>
          <p:grpSpPr>
            <a:xfrm rot="-2700000">
              <a:off x="323400" y="3607463"/>
              <a:ext cx="12113444" cy="4611143"/>
              <a:chOff x="0" y="0"/>
              <a:chExt cx="882773" cy="336039"/>
            </a:xfrm>
          </p:grpSpPr>
          <p:sp>
            <p:nvSpPr>
              <p:cNvPr name="Freeform 16" id="16"/>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lgDash"/>
                <a:miter/>
              </a:ln>
            </p:spPr>
          </p:sp>
          <p:sp>
            <p:nvSpPr>
              <p:cNvPr name="TextBox 17" id="17"/>
              <p:cNvSpPr txBox="true"/>
              <p:nvPr/>
            </p:nvSpPr>
            <p:spPr>
              <a:xfrm>
                <a:off x="0" y="-38100"/>
                <a:ext cx="882773" cy="374139"/>
              </a:xfrm>
              <a:prstGeom prst="rect">
                <a:avLst/>
              </a:prstGeom>
            </p:spPr>
            <p:txBody>
              <a:bodyPr anchor="ctr" rtlCol="false" tIns="50800" lIns="50800" bIns="50800" rIns="50800"/>
              <a:lstStyle/>
              <a:p>
                <a:pPr algn="ctr">
                  <a:lnSpc>
                    <a:spcPts val="2100"/>
                  </a:lnSpc>
                </a:pPr>
              </a:p>
            </p:txBody>
          </p:sp>
        </p:grpSp>
        <p:grpSp>
          <p:nvGrpSpPr>
            <p:cNvPr name="Group 18" id="18"/>
            <p:cNvGrpSpPr/>
            <p:nvPr/>
          </p:nvGrpSpPr>
          <p:grpSpPr>
            <a:xfrm rot="-2700000">
              <a:off x="-142734" y="8179025"/>
              <a:ext cx="12033050" cy="4580540"/>
              <a:chOff x="0" y="0"/>
              <a:chExt cx="882773" cy="336039"/>
            </a:xfrm>
          </p:grpSpPr>
          <p:sp>
            <p:nvSpPr>
              <p:cNvPr name="Freeform 19" id="19"/>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20" id="20"/>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sp>
        <p:nvSpPr>
          <p:cNvPr name="TextBox 21" id="21"/>
          <p:cNvSpPr txBox="true"/>
          <p:nvPr/>
        </p:nvSpPr>
        <p:spPr>
          <a:xfrm rot="0">
            <a:off x="945414" y="2850261"/>
            <a:ext cx="12430988" cy="5005578"/>
          </a:xfrm>
          <a:prstGeom prst="rect">
            <a:avLst/>
          </a:prstGeom>
        </p:spPr>
        <p:txBody>
          <a:bodyPr anchor="t" rtlCol="false" tIns="0" lIns="0" bIns="0" rIns="0">
            <a:spAutoFit/>
          </a:bodyPr>
          <a:lstStyle/>
          <a:p>
            <a:pPr algn="l">
              <a:lnSpc>
                <a:spcPts val="12816"/>
              </a:lnSpc>
            </a:pPr>
            <a:r>
              <a:rPr lang="en-US" b="true" sz="14400" spc="-489">
                <a:solidFill>
                  <a:srgbClr val="FDFFF8"/>
                </a:solidFill>
                <a:latin typeface="Heebo Heavy"/>
                <a:ea typeface="Heebo Heavy"/>
                <a:cs typeface="Heebo Heavy"/>
                <a:sym typeface="Heebo Heavy"/>
              </a:rPr>
              <a:t>EMPLOYEE ATTRITION PREDICTION </a:t>
            </a:r>
          </a:p>
        </p:txBody>
      </p:sp>
      <p:sp>
        <p:nvSpPr>
          <p:cNvPr name="TextBox 22" id="22"/>
          <p:cNvSpPr txBox="true"/>
          <p:nvPr/>
        </p:nvSpPr>
        <p:spPr>
          <a:xfrm rot="0">
            <a:off x="1028700" y="8287943"/>
            <a:ext cx="12264416" cy="1329113"/>
          </a:xfrm>
          <a:prstGeom prst="rect">
            <a:avLst/>
          </a:prstGeom>
        </p:spPr>
        <p:txBody>
          <a:bodyPr anchor="t" rtlCol="false" tIns="0" lIns="0" bIns="0" rIns="0">
            <a:spAutoFit/>
          </a:bodyPr>
          <a:lstStyle/>
          <a:p>
            <a:pPr algn="l">
              <a:lnSpc>
                <a:spcPts val="5324"/>
              </a:lnSpc>
            </a:pPr>
            <a:r>
              <a:rPr lang="en-US" sz="4095">
                <a:solidFill>
                  <a:srgbClr val="FDFFF8"/>
                </a:solidFill>
                <a:latin typeface="Heebo"/>
                <a:ea typeface="Heebo"/>
                <a:cs typeface="Heebo"/>
                <a:sym typeface="Heebo"/>
              </a:rPr>
              <a:t>211701057  Tinu A V</a:t>
            </a:r>
          </a:p>
          <a:p>
            <a:pPr algn="l">
              <a:lnSpc>
                <a:spcPts val="5324"/>
              </a:lnSpc>
            </a:pPr>
            <a:r>
              <a:rPr lang="en-US" sz="4095">
                <a:solidFill>
                  <a:srgbClr val="FDFFF8"/>
                </a:solidFill>
                <a:latin typeface="Heebo"/>
                <a:ea typeface="Heebo"/>
                <a:cs typeface="Heebo"/>
                <a:sym typeface="Heebo"/>
              </a:rPr>
              <a:t>211701058  Varshini Karthikeyan</a:t>
            </a:r>
          </a:p>
        </p:txBody>
      </p:sp>
      <p:sp>
        <p:nvSpPr>
          <p:cNvPr name="TextBox 23" id="23"/>
          <p:cNvSpPr txBox="true"/>
          <p:nvPr/>
        </p:nvSpPr>
        <p:spPr>
          <a:xfrm rot="0">
            <a:off x="9435518" y="340331"/>
            <a:ext cx="8487983" cy="1329113"/>
          </a:xfrm>
          <a:prstGeom prst="rect">
            <a:avLst/>
          </a:prstGeom>
        </p:spPr>
        <p:txBody>
          <a:bodyPr anchor="t" rtlCol="false" tIns="0" lIns="0" bIns="0" rIns="0">
            <a:spAutoFit/>
          </a:bodyPr>
          <a:lstStyle/>
          <a:p>
            <a:pPr algn="r">
              <a:lnSpc>
                <a:spcPts val="5324"/>
              </a:lnSpc>
            </a:pPr>
            <a:r>
              <a:rPr lang="en-US" sz="4095" b="true">
                <a:solidFill>
                  <a:srgbClr val="FDFFF8"/>
                </a:solidFill>
                <a:latin typeface="Heebo Bold"/>
                <a:ea typeface="Heebo Bold"/>
                <a:cs typeface="Heebo Bold"/>
                <a:sym typeface="Heebo Bold"/>
              </a:rPr>
              <a:t>FOUNDATIONS OF DATA SCIENCE FINAL REVIEW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778603" y="3815129"/>
            <a:ext cx="7557206" cy="10205403"/>
            <a:chOff x="0" y="0"/>
            <a:chExt cx="10076275" cy="13607204"/>
          </a:xfrm>
        </p:grpSpPr>
        <p:grpSp>
          <p:nvGrpSpPr>
            <p:cNvPr name="Group 3" id="3"/>
            <p:cNvGrpSpPr/>
            <p:nvPr/>
          </p:nvGrpSpPr>
          <p:grpSpPr>
            <a:xfrm rot="-2700000">
              <a:off x="-122427" y="3073700"/>
              <a:ext cx="10321130" cy="3928875"/>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5" id="5"/>
              <p:cNvSpPr txBox="true"/>
              <p:nvPr/>
            </p:nvSpPr>
            <p:spPr>
              <a:xfrm>
                <a:off x="0" y="-76200"/>
                <a:ext cx="882773" cy="412239"/>
              </a:xfrm>
              <a:prstGeom prst="rect">
                <a:avLst/>
              </a:prstGeom>
            </p:spPr>
            <p:txBody>
              <a:bodyPr anchor="ctr" rtlCol="false" tIns="119293" lIns="119293" bIns="119293" rIns="119293"/>
              <a:lstStyle/>
              <a:p>
                <a:pPr algn="ctr">
                  <a:lnSpc>
                    <a:spcPts val="4931"/>
                  </a:lnSpc>
                </a:pPr>
              </a:p>
            </p:txBody>
          </p:sp>
        </p:grpSp>
        <p:grpSp>
          <p:nvGrpSpPr>
            <p:cNvPr name="Group 6" id="6"/>
            <p:cNvGrpSpPr/>
            <p:nvPr/>
          </p:nvGrpSpPr>
          <p:grpSpPr>
            <a:xfrm rot="-2700000">
              <a:off x="-122427" y="6604629"/>
              <a:ext cx="10321130" cy="3928875"/>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19293" lIns="119293" bIns="119293" rIns="119293"/>
              <a:lstStyle/>
              <a:p>
                <a:pPr algn="ctr">
                  <a:lnSpc>
                    <a:spcPts val="4931"/>
                  </a:lnSpc>
                </a:pPr>
              </a:p>
            </p:txBody>
          </p:sp>
        </p:grpSp>
      </p:grpSp>
      <p:grpSp>
        <p:nvGrpSpPr>
          <p:cNvPr name="Group 9" id="9"/>
          <p:cNvGrpSpPr/>
          <p:nvPr/>
        </p:nvGrpSpPr>
        <p:grpSpPr>
          <a:xfrm rot="0">
            <a:off x="14974802" y="-2270329"/>
            <a:ext cx="5354679" cy="6598058"/>
            <a:chOff x="0" y="0"/>
            <a:chExt cx="7139572" cy="8797411"/>
          </a:xfrm>
        </p:grpSpPr>
        <p:grpSp>
          <p:nvGrpSpPr>
            <p:cNvPr name="Group 10" id="10"/>
            <p:cNvGrpSpPr/>
            <p:nvPr/>
          </p:nvGrpSpPr>
          <p:grpSpPr>
            <a:xfrm rot="-2700000">
              <a:off x="-77521" y="4363400"/>
              <a:ext cx="6535310" cy="2487752"/>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2D3E96"/>
              </a:solidFill>
              <a:ln w="19050" cap="sq">
                <a:solidFill>
                  <a:srgbClr val="FDFFF8"/>
                </a:solidFill>
                <a:prstDash val="lgDash"/>
                <a:miter/>
              </a:ln>
            </p:spPr>
          </p:sp>
          <p:sp>
            <p:nvSpPr>
              <p:cNvPr name="TextBox 12" id="12"/>
              <p:cNvSpPr txBox="true"/>
              <p:nvPr/>
            </p:nvSpPr>
            <p:spPr>
              <a:xfrm>
                <a:off x="0" y="-38100"/>
                <a:ext cx="882773" cy="374139"/>
              </a:xfrm>
              <a:prstGeom prst="rect">
                <a:avLst/>
              </a:prstGeom>
            </p:spPr>
            <p:txBody>
              <a:bodyPr anchor="ctr" rtlCol="false" tIns="52701" lIns="52701" bIns="52701" rIns="52701"/>
              <a:lstStyle/>
              <a:p>
                <a:pPr algn="ctr">
                  <a:lnSpc>
                    <a:spcPts val="3122"/>
                  </a:lnSpc>
                </a:pPr>
              </a:p>
            </p:txBody>
          </p:sp>
        </p:grpSp>
        <p:grpSp>
          <p:nvGrpSpPr>
            <p:cNvPr name="Group 13" id="13"/>
            <p:cNvGrpSpPr/>
            <p:nvPr/>
          </p:nvGrpSpPr>
          <p:grpSpPr>
            <a:xfrm rot="-2700000">
              <a:off x="681782" y="1946258"/>
              <a:ext cx="6535310" cy="2487752"/>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52701" lIns="52701" bIns="52701" rIns="52701"/>
              <a:lstStyle/>
              <a:p>
                <a:pPr algn="ctr">
                  <a:lnSpc>
                    <a:spcPts val="3122"/>
                  </a:lnSpc>
                </a:pPr>
              </a:p>
            </p:txBody>
          </p:sp>
        </p:grpSp>
      </p:grpSp>
      <p:sp>
        <p:nvSpPr>
          <p:cNvPr name="TextBox 16" id="16"/>
          <p:cNvSpPr txBox="true"/>
          <p:nvPr/>
        </p:nvSpPr>
        <p:spPr>
          <a:xfrm rot="0">
            <a:off x="1401953" y="2391300"/>
            <a:ext cx="15866872" cy="6526531"/>
          </a:xfrm>
          <a:prstGeom prst="rect">
            <a:avLst/>
          </a:prstGeom>
        </p:spPr>
        <p:txBody>
          <a:bodyPr anchor="t" rtlCol="false" tIns="0" lIns="0" bIns="0" rIns="0">
            <a:spAutoFit/>
          </a:bodyPr>
          <a:lstStyle/>
          <a:p>
            <a:pPr algn="just">
              <a:lnSpc>
                <a:spcPts val="4290"/>
              </a:lnSpc>
            </a:pPr>
            <a:r>
              <a:rPr lang="en-US" sz="3900">
                <a:solidFill>
                  <a:srgbClr val="FDFFF8"/>
                </a:solidFill>
                <a:latin typeface="Heebo"/>
                <a:ea typeface="Heebo"/>
                <a:cs typeface="Heebo"/>
                <a:sym typeface="Heebo"/>
              </a:rPr>
              <a:t>Employee attrition in an organization poses significant challenges, leading to increased recruitment costs, disrupted services, and loss of expertise. Identifying at-risk employees before they decide to leave is crucial but complex due to various influencing factors such as job satisfaction, work-life balance, performance, and compensation. This project aims to address this challenge by developing a machine learning model to predict employee attrition. The solution involves data preprocessing to clean and prepare the dataset, applying and evaluating various machine learning algorithms. By integrating the predictive model into HR systems, organizations can identify high-risk employees in real-time, enabling targeted retention strategies and fostering a more stable workforce.</a:t>
            </a:r>
          </a:p>
        </p:txBody>
      </p:sp>
      <p:sp>
        <p:nvSpPr>
          <p:cNvPr name="AutoShape 17" id="17"/>
          <p:cNvSpPr/>
          <p:nvPr/>
        </p:nvSpPr>
        <p:spPr>
          <a:xfrm>
            <a:off x="8722644" y="9348788"/>
            <a:ext cx="842712" cy="0"/>
          </a:xfrm>
          <a:prstGeom prst="line">
            <a:avLst/>
          </a:prstGeom>
          <a:ln cap="rnd" w="180975">
            <a:solidFill>
              <a:srgbClr val="FFCE00"/>
            </a:solidFill>
            <a:prstDash val="solid"/>
            <a:headEnd type="none" len="sm" w="sm"/>
            <a:tailEnd type="none" len="sm" w="sm"/>
          </a:ln>
        </p:spPr>
      </p:sp>
      <p:sp>
        <p:nvSpPr>
          <p:cNvPr name="TextBox 18" id="18"/>
          <p:cNvSpPr txBox="true"/>
          <p:nvPr/>
        </p:nvSpPr>
        <p:spPr>
          <a:xfrm rot="0">
            <a:off x="623740" y="630412"/>
            <a:ext cx="5710484" cy="1386202"/>
          </a:xfrm>
          <a:prstGeom prst="rect">
            <a:avLst/>
          </a:prstGeom>
        </p:spPr>
        <p:txBody>
          <a:bodyPr anchor="t" rtlCol="false" tIns="0" lIns="0" bIns="0" rIns="0">
            <a:spAutoFit/>
          </a:bodyPr>
          <a:lstStyle/>
          <a:p>
            <a:pPr algn="ctr">
              <a:lnSpc>
                <a:spcPts val="11180"/>
              </a:lnSpc>
            </a:pPr>
            <a:r>
              <a:rPr lang="en-US" b="true" sz="8600">
                <a:solidFill>
                  <a:srgbClr val="FDFFF8"/>
                </a:solidFill>
                <a:latin typeface="Heebo Medium"/>
                <a:ea typeface="Heebo Medium"/>
                <a:cs typeface="Heebo Medium"/>
                <a:sym typeface="Heebo Medium"/>
              </a:rPr>
              <a:t>ABSTRACT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377067" y="-1452017"/>
            <a:ext cx="4026470" cy="4961433"/>
            <a:chOff x="0" y="0"/>
            <a:chExt cx="5368626" cy="6615244"/>
          </a:xfrm>
        </p:grpSpPr>
        <p:grpSp>
          <p:nvGrpSpPr>
            <p:cNvPr name="Group 3" id="3"/>
            <p:cNvGrpSpPr/>
            <p:nvPr/>
          </p:nvGrpSpPr>
          <p:grpSpPr>
            <a:xfrm rot="-2700000">
              <a:off x="-58292" y="3281074"/>
              <a:ext cx="4914250" cy="1870674"/>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6799" lIns="56799" bIns="56799" rIns="56799"/>
              <a:lstStyle/>
              <a:p>
                <a:pPr algn="ctr">
                  <a:lnSpc>
                    <a:spcPts val="2347"/>
                  </a:lnSpc>
                </a:pPr>
              </a:p>
            </p:txBody>
          </p:sp>
        </p:grpSp>
        <p:grpSp>
          <p:nvGrpSpPr>
            <p:cNvPr name="Group 6" id="6"/>
            <p:cNvGrpSpPr/>
            <p:nvPr/>
          </p:nvGrpSpPr>
          <p:grpSpPr>
            <a:xfrm rot="-2700000">
              <a:off x="512669" y="1463496"/>
              <a:ext cx="4914250" cy="1870674"/>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6799" lIns="56799" bIns="56799" rIns="56799"/>
              <a:lstStyle/>
              <a:p>
                <a:pPr algn="ctr">
                  <a:lnSpc>
                    <a:spcPts val="2347"/>
                  </a:lnSpc>
                </a:pPr>
              </a:p>
            </p:txBody>
          </p:sp>
        </p:grpSp>
      </p:grpSp>
      <p:grpSp>
        <p:nvGrpSpPr>
          <p:cNvPr name="Group 9" id="9"/>
          <p:cNvGrpSpPr/>
          <p:nvPr/>
        </p:nvGrpSpPr>
        <p:grpSpPr>
          <a:xfrm rot="0">
            <a:off x="9039525" y="6956591"/>
            <a:ext cx="3735921" cy="4603418"/>
            <a:chOff x="0" y="0"/>
            <a:chExt cx="4981228" cy="6137890"/>
          </a:xfrm>
        </p:grpSpPr>
        <p:grpSp>
          <p:nvGrpSpPr>
            <p:cNvPr name="Group 10" id="10"/>
            <p:cNvGrpSpPr/>
            <p:nvPr/>
          </p:nvGrpSpPr>
          <p:grpSpPr>
            <a:xfrm rot="-2700000">
              <a:off x="475675" y="1357890"/>
              <a:ext cx="4559639" cy="1735687"/>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FCE00"/>
                </a:solidFill>
                <a:prstDash val="solid"/>
                <a:miter/>
              </a:ln>
            </p:spPr>
          </p:sp>
          <p:sp>
            <p:nvSpPr>
              <p:cNvPr name="TextBox 12" id="12"/>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13" id="13"/>
            <p:cNvGrpSpPr/>
            <p:nvPr/>
          </p:nvGrpSpPr>
          <p:grpSpPr>
            <a:xfrm rot="-2700000">
              <a:off x="-54086" y="3044313"/>
              <a:ext cx="4559639" cy="1735687"/>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2D3E96"/>
              </a:solidFill>
              <a:ln cap="sq">
                <a:noFill/>
                <a:prstDash val="solid"/>
                <a:miter/>
              </a:ln>
            </p:spPr>
          </p:sp>
          <p:sp>
            <p:nvSpPr>
              <p:cNvPr name="TextBox 15" id="1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16" id="16"/>
          <p:cNvGrpSpPr/>
          <p:nvPr/>
        </p:nvGrpSpPr>
        <p:grpSpPr>
          <a:xfrm rot="0">
            <a:off x="-3419262" y="-2619006"/>
            <a:ext cx="8657356" cy="10667631"/>
            <a:chOff x="0" y="0"/>
            <a:chExt cx="11543141" cy="14223507"/>
          </a:xfrm>
        </p:grpSpPr>
        <p:grpSp>
          <p:nvGrpSpPr>
            <p:cNvPr name="Group 17" id="17"/>
            <p:cNvGrpSpPr/>
            <p:nvPr/>
          </p:nvGrpSpPr>
          <p:grpSpPr>
            <a:xfrm rot="-2700000">
              <a:off x="1102294" y="3146678"/>
              <a:ext cx="10566181" cy="4022157"/>
              <a:chOff x="0" y="0"/>
              <a:chExt cx="882773" cy="336039"/>
            </a:xfrm>
          </p:grpSpPr>
          <p:sp>
            <p:nvSpPr>
              <p:cNvPr name="Freeform 18" id="18"/>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DB639C"/>
                </a:solidFill>
                <a:prstDash val="sysDot"/>
                <a:miter/>
              </a:ln>
            </p:spPr>
          </p:sp>
          <p:sp>
            <p:nvSpPr>
              <p:cNvPr name="TextBox 19" id="19"/>
              <p:cNvSpPr txBox="true"/>
              <p:nvPr/>
            </p:nvSpPr>
            <p:spPr>
              <a:xfrm>
                <a:off x="0" y="-66675"/>
                <a:ext cx="882773" cy="402714"/>
              </a:xfrm>
              <a:prstGeom prst="rect">
                <a:avLst/>
              </a:prstGeom>
            </p:spPr>
            <p:txBody>
              <a:bodyPr anchor="ctr" rtlCol="false" tIns="122125" lIns="122125" bIns="122125" rIns="122125"/>
              <a:lstStyle/>
              <a:p>
                <a:pPr algn="ctr">
                  <a:lnSpc>
                    <a:spcPts val="5048"/>
                  </a:lnSpc>
                </a:pPr>
              </a:p>
            </p:txBody>
          </p:sp>
        </p:grpSp>
        <p:grpSp>
          <p:nvGrpSpPr>
            <p:cNvPr name="Group 20" id="20"/>
            <p:cNvGrpSpPr/>
            <p:nvPr/>
          </p:nvGrpSpPr>
          <p:grpSpPr>
            <a:xfrm rot="-2700000">
              <a:off x="-125334" y="7054673"/>
              <a:ext cx="10566181" cy="4022157"/>
              <a:chOff x="0" y="0"/>
              <a:chExt cx="882773" cy="336039"/>
            </a:xfrm>
          </p:grpSpPr>
          <p:sp>
            <p:nvSpPr>
              <p:cNvPr name="Freeform 21" id="2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22" id="22"/>
              <p:cNvSpPr txBox="true"/>
              <p:nvPr/>
            </p:nvSpPr>
            <p:spPr>
              <a:xfrm>
                <a:off x="0" y="-66675"/>
                <a:ext cx="882773" cy="402714"/>
              </a:xfrm>
              <a:prstGeom prst="rect">
                <a:avLst/>
              </a:prstGeom>
            </p:spPr>
            <p:txBody>
              <a:bodyPr anchor="ctr" rtlCol="false" tIns="122125" lIns="122125" bIns="122125" rIns="122125"/>
              <a:lstStyle/>
              <a:p>
                <a:pPr algn="ctr">
                  <a:lnSpc>
                    <a:spcPts val="5048"/>
                  </a:lnSpc>
                </a:pPr>
              </a:p>
            </p:txBody>
          </p:sp>
        </p:grpSp>
      </p:grpSp>
      <p:sp>
        <p:nvSpPr>
          <p:cNvPr name="TextBox 23" id="23"/>
          <p:cNvSpPr txBox="true"/>
          <p:nvPr/>
        </p:nvSpPr>
        <p:spPr>
          <a:xfrm rot="0">
            <a:off x="1028700" y="3794854"/>
            <a:ext cx="10608541" cy="5463446"/>
          </a:xfrm>
          <a:prstGeom prst="rect">
            <a:avLst/>
          </a:prstGeom>
        </p:spPr>
        <p:txBody>
          <a:bodyPr anchor="t" rtlCol="false" tIns="0" lIns="0" bIns="0" rIns="0">
            <a:spAutoFit/>
          </a:bodyPr>
          <a:lstStyle/>
          <a:p>
            <a:pPr algn="l">
              <a:lnSpc>
                <a:spcPts val="5465"/>
              </a:lnSpc>
            </a:pPr>
            <a:r>
              <a:rPr lang="en-US" sz="3903" b="true">
                <a:solidFill>
                  <a:srgbClr val="000000"/>
                </a:solidFill>
                <a:latin typeface="Heebo Bold"/>
                <a:ea typeface="Heebo Bold"/>
                <a:cs typeface="Heebo Bold"/>
                <a:sym typeface="Heebo Bold"/>
              </a:rPr>
              <a:t>Dataset Size</a:t>
            </a:r>
            <a:r>
              <a:rPr lang="en-US" sz="3903">
                <a:solidFill>
                  <a:srgbClr val="000000"/>
                </a:solidFill>
                <a:latin typeface="Heebo"/>
                <a:ea typeface="Heebo"/>
                <a:cs typeface="Heebo"/>
                <a:sym typeface="Heebo"/>
              </a:rPr>
              <a:t>: 74,498 samples, split into training and testing sets.</a:t>
            </a:r>
          </a:p>
          <a:p>
            <a:pPr algn="just">
              <a:lnSpc>
                <a:spcPts val="5465"/>
              </a:lnSpc>
            </a:pPr>
            <a:r>
              <a:rPr lang="en-US" sz="3903" b="true">
                <a:solidFill>
                  <a:srgbClr val="000000"/>
                </a:solidFill>
                <a:latin typeface="Heebo Bold"/>
                <a:ea typeface="Heebo Bold"/>
                <a:cs typeface="Heebo Bold"/>
                <a:sym typeface="Heebo Bold"/>
              </a:rPr>
              <a:t>Features</a:t>
            </a:r>
            <a:r>
              <a:rPr lang="en-US" sz="3903">
                <a:solidFill>
                  <a:srgbClr val="000000"/>
                </a:solidFill>
                <a:latin typeface="Heebo"/>
                <a:ea typeface="Heebo"/>
                <a:cs typeface="Heebo"/>
                <a:sym typeface="Heebo"/>
              </a:rPr>
              <a:t>: Includes demographics, job-related features, personal circumstances, and a unique Employee ID.</a:t>
            </a:r>
          </a:p>
          <a:p>
            <a:pPr algn="just">
              <a:lnSpc>
                <a:spcPts val="5465"/>
              </a:lnSpc>
            </a:pPr>
            <a:r>
              <a:rPr lang="en-US" sz="3903" b="true">
                <a:solidFill>
                  <a:srgbClr val="000000"/>
                </a:solidFill>
                <a:latin typeface="Heebo Bold"/>
                <a:ea typeface="Heebo Bold"/>
                <a:cs typeface="Heebo Bold"/>
                <a:sym typeface="Heebo Bold"/>
              </a:rPr>
              <a:t>Target Variable</a:t>
            </a:r>
            <a:r>
              <a:rPr lang="en-US" sz="3903">
                <a:solidFill>
                  <a:srgbClr val="000000"/>
                </a:solidFill>
                <a:latin typeface="Heebo"/>
                <a:ea typeface="Heebo"/>
                <a:cs typeface="Heebo"/>
                <a:sym typeface="Heebo"/>
              </a:rPr>
              <a:t>: Attrition (whether an employee has left or is likely to leave, often coded as 0 for "Stayed" and 1 for "Left").</a:t>
            </a:r>
          </a:p>
        </p:txBody>
      </p:sp>
      <p:sp>
        <p:nvSpPr>
          <p:cNvPr name="TextBox 24" id="24"/>
          <p:cNvSpPr txBox="true"/>
          <p:nvPr/>
        </p:nvSpPr>
        <p:spPr>
          <a:xfrm rot="0">
            <a:off x="2693267" y="771888"/>
            <a:ext cx="8943975" cy="2343601"/>
          </a:xfrm>
          <a:prstGeom prst="rect">
            <a:avLst/>
          </a:prstGeom>
        </p:spPr>
        <p:txBody>
          <a:bodyPr anchor="t" rtlCol="false" tIns="0" lIns="0" bIns="0" rIns="0">
            <a:spAutoFit/>
          </a:bodyPr>
          <a:lstStyle/>
          <a:p>
            <a:pPr algn="ctr">
              <a:lnSpc>
                <a:spcPts val="9114"/>
              </a:lnSpc>
            </a:pPr>
            <a:r>
              <a:rPr lang="en-US" b="true" sz="8285" spc="-82">
                <a:solidFill>
                  <a:srgbClr val="2D3E96"/>
                </a:solidFill>
                <a:latin typeface="Heebo Heavy"/>
                <a:ea typeface="Heebo Heavy"/>
                <a:cs typeface="Heebo Heavy"/>
                <a:sym typeface="Heebo Heavy"/>
              </a:rPr>
              <a:t>UNDERSTANDING THE DATASET</a:t>
            </a:r>
          </a:p>
        </p:txBody>
      </p:sp>
      <p:sp>
        <p:nvSpPr>
          <p:cNvPr name="Freeform 25" id="25"/>
          <p:cNvSpPr/>
          <p:nvPr/>
        </p:nvSpPr>
        <p:spPr>
          <a:xfrm flipH="false" flipV="false" rot="0">
            <a:off x="13115274" y="1209871"/>
            <a:ext cx="4523585" cy="7795891"/>
          </a:xfrm>
          <a:custGeom>
            <a:avLst/>
            <a:gdLst/>
            <a:ahLst/>
            <a:cxnLst/>
            <a:rect r="r" b="b" t="t" l="l"/>
            <a:pathLst>
              <a:path h="7795891" w="4523585">
                <a:moveTo>
                  <a:pt x="0" y="0"/>
                </a:moveTo>
                <a:lnTo>
                  <a:pt x="4523585" y="0"/>
                </a:lnTo>
                <a:lnTo>
                  <a:pt x="4523585" y="7795892"/>
                </a:lnTo>
                <a:lnTo>
                  <a:pt x="0" y="7795892"/>
                </a:lnTo>
                <a:lnTo>
                  <a:pt x="0" y="0"/>
                </a:lnTo>
                <a:close/>
              </a:path>
            </a:pathLst>
          </a:custGeom>
          <a:blipFill>
            <a:blip r:embed="rId2"/>
            <a:stretch>
              <a:fillRect l="-9093" t="-18974" r="-51612"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608979" y="3763743"/>
            <a:ext cx="17433383" cy="5040380"/>
          </a:xfrm>
          <a:custGeom>
            <a:avLst/>
            <a:gdLst/>
            <a:ahLst/>
            <a:cxnLst/>
            <a:rect r="r" b="b" t="t" l="l"/>
            <a:pathLst>
              <a:path h="5040380" w="17433383">
                <a:moveTo>
                  <a:pt x="0" y="0"/>
                </a:moveTo>
                <a:lnTo>
                  <a:pt x="17433383" y="0"/>
                </a:lnTo>
                <a:lnTo>
                  <a:pt x="17433383" y="5040380"/>
                </a:lnTo>
                <a:lnTo>
                  <a:pt x="0" y="5040380"/>
                </a:lnTo>
                <a:lnTo>
                  <a:pt x="0" y="0"/>
                </a:lnTo>
                <a:close/>
              </a:path>
            </a:pathLst>
          </a:custGeom>
          <a:blipFill>
            <a:blip r:embed="rId2"/>
            <a:stretch>
              <a:fillRect l="-618" t="0" r="-618" b="-8109"/>
            </a:stretch>
          </a:blipFill>
        </p:spPr>
      </p:sp>
      <p:sp>
        <p:nvSpPr>
          <p:cNvPr name="TextBox 17" id="17"/>
          <p:cNvSpPr txBox="true"/>
          <p:nvPr/>
        </p:nvSpPr>
        <p:spPr>
          <a:xfrm rot="0">
            <a:off x="802468" y="663356"/>
            <a:ext cx="10350260" cy="984249"/>
          </a:xfrm>
          <a:prstGeom prst="rect">
            <a:avLst/>
          </a:prstGeom>
        </p:spPr>
        <p:txBody>
          <a:bodyPr anchor="t" rtlCol="false" tIns="0" lIns="0" bIns="0" rIns="0">
            <a:spAutoFit/>
          </a:bodyPr>
          <a:lstStyle/>
          <a:p>
            <a:pPr algn="just">
              <a:lnSpc>
                <a:spcPts val="7699"/>
              </a:lnSpc>
            </a:pPr>
            <a:r>
              <a:rPr lang="en-US" b="true" sz="6999" spc="-69">
                <a:solidFill>
                  <a:srgbClr val="2D3E96"/>
                </a:solidFill>
                <a:latin typeface="Heebo Heavy"/>
                <a:ea typeface="Heebo Heavy"/>
                <a:cs typeface="Heebo Heavy"/>
                <a:sym typeface="Heebo Heavy"/>
              </a:rPr>
              <a:t>LOADING DATASET</a:t>
            </a:r>
          </a:p>
        </p:txBody>
      </p:sp>
      <p:sp>
        <p:nvSpPr>
          <p:cNvPr name="TextBox 18" id="18"/>
          <p:cNvSpPr txBox="true"/>
          <p:nvPr/>
        </p:nvSpPr>
        <p:spPr>
          <a:xfrm rot="0">
            <a:off x="1028700" y="2058579"/>
            <a:ext cx="16046250" cy="1256089"/>
          </a:xfrm>
          <a:prstGeom prst="rect">
            <a:avLst/>
          </a:prstGeom>
        </p:spPr>
        <p:txBody>
          <a:bodyPr anchor="t" rtlCol="false" tIns="0" lIns="0" bIns="0" rIns="0">
            <a:spAutoFit/>
          </a:bodyPr>
          <a:lstStyle/>
          <a:p>
            <a:pPr algn="l">
              <a:lnSpc>
                <a:spcPts val="3391"/>
              </a:lnSpc>
              <a:spcBef>
                <a:spcPct val="0"/>
              </a:spcBef>
            </a:pPr>
            <a:r>
              <a:rPr lang="en-US" sz="2422">
                <a:solidFill>
                  <a:srgbClr val="2D3E96"/>
                </a:solidFill>
                <a:latin typeface="Heebo"/>
                <a:ea typeface="Heebo"/>
                <a:cs typeface="Heebo"/>
                <a:sym typeface="Heebo"/>
              </a:rPr>
              <a:t>Loading a dataset is the initial step in data preprocessing and model development . In Python, this typically involves using the pandas library to read data from a file and load it into a DataFrame. A DataFrame is a table-like structure that allows for easy manipulation and analysis of data.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1028700" y="2332513"/>
            <a:ext cx="16230600" cy="6559583"/>
          </a:xfrm>
          <a:prstGeom prst="rect">
            <a:avLst/>
          </a:prstGeom>
        </p:spPr>
        <p:txBody>
          <a:bodyPr anchor="t" rtlCol="false" tIns="0" lIns="0" bIns="0" rIns="0">
            <a:spAutoFit/>
          </a:bodyPr>
          <a:lstStyle/>
          <a:p>
            <a:pPr algn="just">
              <a:lnSpc>
                <a:spcPts val="5196"/>
              </a:lnSpc>
            </a:pPr>
            <a:r>
              <a:rPr lang="en-US" sz="3997" b="true">
                <a:solidFill>
                  <a:srgbClr val="FDFFF8"/>
                </a:solidFill>
                <a:latin typeface="Heebo Bold"/>
                <a:ea typeface="Heebo Bold"/>
                <a:cs typeface="Heebo Bold"/>
                <a:sym typeface="Heebo Bold"/>
              </a:rPr>
              <a:t>Missing Values: Identify and handle missing values.</a:t>
            </a:r>
          </a:p>
          <a:p>
            <a:pPr algn="just" marL="863036" indent="-431518" lvl="1">
              <a:lnSpc>
                <a:spcPts val="5196"/>
              </a:lnSpc>
              <a:buFont typeface="Arial"/>
              <a:buChar char="•"/>
            </a:pPr>
            <a:r>
              <a:rPr lang="en-US" b="true" sz="3997">
                <a:solidFill>
                  <a:srgbClr val="FDFFF8"/>
                </a:solidFill>
                <a:latin typeface="Heebo Bold"/>
                <a:ea typeface="Heebo Bold"/>
                <a:cs typeface="Heebo Bold"/>
                <a:sym typeface="Heebo Bold"/>
              </a:rPr>
              <a:t>Mean/Median Imputation</a:t>
            </a:r>
            <a:r>
              <a:rPr lang="en-US" sz="3997">
                <a:solidFill>
                  <a:srgbClr val="FDFFF8"/>
                </a:solidFill>
                <a:latin typeface="Heebo"/>
                <a:ea typeface="Heebo"/>
                <a:cs typeface="Heebo"/>
                <a:sym typeface="Heebo"/>
              </a:rPr>
              <a:t>: For numerical features.</a:t>
            </a:r>
          </a:p>
          <a:p>
            <a:pPr algn="just" marL="863036" indent="-431518" lvl="1">
              <a:lnSpc>
                <a:spcPts val="5196"/>
              </a:lnSpc>
              <a:buFont typeface="Arial"/>
              <a:buChar char="•"/>
            </a:pPr>
            <a:r>
              <a:rPr lang="en-US" b="true" sz="3997">
                <a:solidFill>
                  <a:srgbClr val="FDFFF8"/>
                </a:solidFill>
                <a:latin typeface="Heebo Bold"/>
                <a:ea typeface="Heebo Bold"/>
                <a:cs typeface="Heebo Bold"/>
                <a:sym typeface="Heebo Bold"/>
              </a:rPr>
              <a:t>Mode Imputation</a:t>
            </a:r>
            <a:r>
              <a:rPr lang="en-US" sz="3997">
                <a:solidFill>
                  <a:srgbClr val="FDFFF8"/>
                </a:solidFill>
                <a:latin typeface="Heebo"/>
                <a:ea typeface="Heebo"/>
                <a:cs typeface="Heebo"/>
                <a:sym typeface="Heebo"/>
              </a:rPr>
              <a:t>: For categorical features (e.g., Job Role or Department).</a:t>
            </a:r>
          </a:p>
          <a:p>
            <a:pPr algn="just" marL="863036" indent="-431518" lvl="1">
              <a:lnSpc>
                <a:spcPts val="5196"/>
              </a:lnSpc>
              <a:buFont typeface="Arial"/>
              <a:buChar char="•"/>
            </a:pPr>
            <a:r>
              <a:rPr lang="en-US" b="true" sz="3997">
                <a:solidFill>
                  <a:srgbClr val="FDFFF8"/>
                </a:solidFill>
                <a:latin typeface="Heebo Bold"/>
                <a:ea typeface="Heebo Bold"/>
                <a:cs typeface="Heebo Bold"/>
                <a:sym typeface="Heebo Bold"/>
              </a:rPr>
              <a:t>Dropping Rows/Columns:</a:t>
            </a:r>
            <a:r>
              <a:rPr lang="en-US" sz="3997">
                <a:solidFill>
                  <a:srgbClr val="FDFFF8"/>
                </a:solidFill>
                <a:latin typeface="Heebo"/>
                <a:ea typeface="Heebo"/>
                <a:cs typeface="Heebo"/>
                <a:sym typeface="Heebo"/>
              </a:rPr>
              <a:t> If a feature has too many missing values or is irrelevant (e.g., Employee ID might not be predictive).</a:t>
            </a:r>
          </a:p>
          <a:p>
            <a:pPr algn="just">
              <a:lnSpc>
                <a:spcPts val="5196"/>
              </a:lnSpc>
            </a:pPr>
          </a:p>
          <a:p>
            <a:pPr algn="just">
              <a:lnSpc>
                <a:spcPts val="5196"/>
              </a:lnSpc>
            </a:pPr>
            <a:r>
              <a:rPr lang="en-US" sz="3997" b="true">
                <a:solidFill>
                  <a:srgbClr val="FDFFF8"/>
                </a:solidFill>
                <a:latin typeface="Heebo Bold"/>
                <a:ea typeface="Heebo Bold"/>
                <a:cs typeface="Heebo Bold"/>
                <a:sym typeface="Heebo Bold"/>
              </a:rPr>
              <a:t>Outlier Detection:</a:t>
            </a:r>
            <a:r>
              <a:rPr lang="en-US" sz="3997">
                <a:solidFill>
                  <a:srgbClr val="FDFFF8"/>
                </a:solidFill>
                <a:latin typeface="Heebo"/>
                <a:ea typeface="Heebo"/>
                <a:cs typeface="Heebo"/>
                <a:sym typeface="Heebo"/>
              </a:rPr>
              <a:t> </a:t>
            </a:r>
            <a:r>
              <a:rPr lang="en-US" sz="3997" b="true">
                <a:solidFill>
                  <a:srgbClr val="FDFFF8"/>
                </a:solidFill>
                <a:latin typeface="Heebo Bold"/>
                <a:ea typeface="Heebo Bold"/>
                <a:cs typeface="Heebo Bold"/>
                <a:sym typeface="Heebo Bold"/>
              </a:rPr>
              <a:t>Identify outliers in numerical features</a:t>
            </a:r>
            <a:r>
              <a:rPr lang="en-US" sz="3997">
                <a:solidFill>
                  <a:srgbClr val="FDFFF8"/>
                </a:solidFill>
                <a:latin typeface="Heebo"/>
                <a:ea typeface="Heebo"/>
                <a:cs typeface="Heebo"/>
                <a:sym typeface="Heebo"/>
              </a:rPr>
              <a:t> like MonthlyIncome, Age, or YearsAtCompany using box plots or Z-scores, and treat them by capping or removing them if they distort the analysis.</a:t>
            </a:r>
          </a:p>
        </p:txBody>
      </p:sp>
      <p:sp>
        <p:nvSpPr>
          <p:cNvPr name="TextBox 17" id="17"/>
          <p:cNvSpPr txBox="true"/>
          <p:nvPr/>
        </p:nvSpPr>
        <p:spPr>
          <a:xfrm rot="0">
            <a:off x="1028700" y="812220"/>
            <a:ext cx="9144400" cy="1228725"/>
          </a:xfrm>
          <a:prstGeom prst="rect">
            <a:avLst/>
          </a:prstGeom>
        </p:spPr>
        <p:txBody>
          <a:bodyPr anchor="t" rtlCol="false" tIns="0" lIns="0" bIns="0" rIns="0">
            <a:spAutoFit/>
          </a:bodyPr>
          <a:lstStyle/>
          <a:p>
            <a:pPr algn="l">
              <a:lnSpc>
                <a:spcPts val="9600"/>
              </a:lnSpc>
            </a:pPr>
            <a:r>
              <a:rPr lang="en-US" sz="8000" b="true">
                <a:solidFill>
                  <a:srgbClr val="FDFFF8"/>
                </a:solidFill>
                <a:latin typeface="Heebo Medium"/>
                <a:ea typeface="Heebo Medium"/>
                <a:cs typeface="Heebo Medium"/>
                <a:sym typeface="Heebo Medium"/>
              </a:rPr>
              <a:t>DATA CLEANING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1382373" y="2848877"/>
            <a:ext cx="13596103" cy="6182335"/>
          </a:xfrm>
          <a:custGeom>
            <a:avLst/>
            <a:gdLst/>
            <a:ahLst/>
            <a:cxnLst/>
            <a:rect r="r" b="b" t="t" l="l"/>
            <a:pathLst>
              <a:path h="6182335" w="13596103">
                <a:moveTo>
                  <a:pt x="0" y="0"/>
                </a:moveTo>
                <a:lnTo>
                  <a:pt x="13596102" y="0"/>
                </a:lnTo>
                <a:lnTo>
                  <a:pt x="13596102" y="6182335"/>
                </a:lnTo>
                <a:lnTo>
                  <a:pt x="0" y="6182335"/>
                </a:lnTo>
                <a:lnTo>
                  <a:pt x="0" y="0"/>
                </a:lnTo>
                <a:close/>
              </a:path>
            </a:pathLst>
          </a:custGeom>
          <a:blipFill>
            <a:blip r:embed="rId2"/>
            <a:stretch>
              <a:fillRect l="-1522" t="-13765" r="-40206" b="-3117"/>
            </a:stretch>
          </a:blipFill>
        </p:spPr>
      </p:sp>
      <p:sp>
        <p:nvSpPr>
          <p:cNvPr name="TextBox 17" id="17"/>
          <p:cNvSpPr txBox="true"/>
          <p:nvPr/>
        </p:nvSpPr>
        <p:spPr>
          <a:xfrm rot="0">
            <a:off x="1028700" y="812220"/>
            <a:ext cx="7740219" cy="1041509"/>
          </a:xfrm>
          <a:prstGeom prst="rect">
            <a:avLst/>
          </a:prstGeom>
        </p:spPr>
        <p:txBody>
          <a:bodyPr anchor="t" rtlCol="false" tIns="0" lIns="0" bIns="0" rIns="0">
            <a:spAutoFit/>
          </a:bodyPr>
          <a:lstStyle/>
          <a:p>
            <a:pPr algn="l">
              <a:lnSpc>
                <a:spcPts val="8125"/>
              </a:lnSpc>
            </a:pPr>
            <a:r>
              <a:rPr lang="en-US" sz="6771" b="true">
                <a:solidFill>
                  <a:srgbClr val="2D3E96"/>
                </a:solidFill>
                <a:latin typeface="Heebo Medium"/>
                <a:ea typeface="Heebo Medium"/>
                <a:cs typeface="Heebo Medium"/>
                <a:sym typeface="Heebo Medium"/>
              </a:rPr>
              <a:t>DATA CLEANING</a:t>
            </a:r>
          </a:p>
        </p:txBody>
      </p:sp>
      <p:sp>
        <p:nvSpPr>
          <p:cNvPr name="TextBox 18" id="18"/>
          <p:cNvSpPr txBox="true"/>
          <p:nvPr/>
        </p:nvSpPr>
        <p:spPr>
          <a:xfrm rot="0">
            <a:off x="1028700" y="1768004"/>
            <a:ext cx="14110779" cy="771525"/>
          </a:xfrm>
          <a:prstGeom prst="rect">
            <a:avLst/>
          </a:prstGeom>
        </p:spPr>
        <p:txBody>
          <a:bodyPr anchor="t" rtlCol="false" tIns="0" lIns="0" bIns="0" rIns="0">
            <a:spAutoFit/>
          </a:bodyPr>
          <a:lstStyle/>
          <a:p>
            <a:pPr algn="l">
              <a:lnSpc>
                <a:spcPts val="6299"/>
              </a:lnSpc>
              <a:spcBef>
                <a:spcPct val="0"/>
              </a:spcBef>
            </a:pPr>
            <a:r>
              <a:rPr lang="en-US" b="true" sz="4500">
                <a:solidFill>
                  <a:srgbClr val="000000"/>
                </a:solidFill>
                <a:latin typeface="Heebo Bold"/>
                <a:ea typeface="Heebo Bold"/>
                <a:cs typeface="Heebo Bold"/>
                <a:sym typeface="Heebo Bold"/>
              </a:rPr>
              <a:t>HANDLING MISSING AND NON STANDARD VALUES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749453" y="3113200"/>
            <a:ext cx="5266064" cy="6718771"/>
          </a:xfrm>
          <a:custGeom>
            <a:avLst/>
            <a:gdLst/>
            <a:ahLst/>
            <a:cxnLst/>
            <a:rect r="r" b="b" t="t" l="l"/>
            <a:pathLst>
              <a:path h="6718771" w="5266064">
                <a:moveTo>
                  <a:pt x="0" y="0"/>
                </a:moveTo>
                <a:lnTo>
                  <a:pt x="5266064" y="0"/>
                </a:lnTo>
                <a:lnTo>
                  <a:pt x="5266064" y="6718771"/>
                </a:lnTo>
                <a:lnTo>
                  <a:pt x="0" y="6718771"/>
                </a:lnTo>
                <a:lnTo>
                  <a:pt x="0" y="0"/>
                </a:lnTo>
                <a:close/>
              </a:path>
            </a:pathLst>
          </a:custGeom>
          <a:blipFill>
            <a:blip r:embed="rId2"/>
            <a:stretch>
              <a:fillRect l="0" t="0" r="0" b="0"/>
            </a:stretch>
          </a:blipFill>
        </p:spPr>
      </p:sp>
      <p:sp>
        <p:nvSpPr>
          <p:cNvPr name="Freeform 17" id="17"/>
          <p:cNvSpPr/>
          <p:nvPr/>
        </p:nvSpPr>
        <p:spPr>
          <a:xfrm flipH="false" flipV="false" rot="0">
            <a:off x="6522875" y="3128556"/>
            <a:ext cx="10736425" cy="5692760"/>
          </a:xfrm>
          <a:custGeom>
            <a:avLst/>
            <a:gdLst/>
            <a:ahLst/>
            <a:cxnLst/>
            <a:rect r="r" b="b" t="t" l="l"/>
            <a:pathLst>
              <a:path h="5692760" w="10736425">
                <a:moveTo>
                  <a:pt x="0" y="0"/>
                </a:moveTo>
                <a:lnTo>
                  <a:pt x="10736425" y="0"/>
                </a:lnTo>
                <a:lnTo>
                  <a:pt x="10736425" y="5692760"/>
                </a:lnTo>
                <a:lnTo>
                  <a:pt x="0" y="5692760"/>
                </a:lnTo>
                <a:lnTo>
                  <a:pt x="0" y="0"/>
                </a:lnTo>
                <a:close/>
              </a:path>
            </a:pathLst>
          </a:custGeom>
          <a:blipFill>
            <a:blip r:embed="rId3"/>
            <a:stretch>
              <a:fillRect l="-4601" t="0" r="-15563" b="0"/>
            </a:stretch>
          </a:blipFill>
        </p:spPr>
      </p:sp>
      <p:sp>
        <p:nvSpPr>
          <p:cNvPr name="TextBox 18" id="18"/>
          <p:cNvSpPr txBox="true"/>
          <p:nvPr/>
        </p:nvSpPr>
        <p:spPr>
          <a:xfrm rot="0">
            <a:off x="1028700" y="812220"/>
            <a:ext cx="7740219" cy="1041509"/>
          </a:xfrm>
          <a:prstGeom prst="rect">
            <a:avLst/>
          </a:prstGeom>
        </p:spPr>
        <p:txBody>
          <a:bodyPr anchor="t" rtlCol="false" tIns="0" lIns="0" bIns="0" rIns="0">
            <a:spAutoFit/>
          </a:bodyPr>
          <a:lstStyle/>
          <a:p>
            <a:pPr algn="l">
              <a:lnSpc>
                <a:spcPts val="8125"/>
              </a:lnSpc>
            </a:pPr>
            <a:r>
              <a:rPr lang="en-US" sz="6771" b="true">
                <a:solidFill>
                  <a:srgbClr val="2D3E96"/>
                </a:solidFill>
                <a:latin typeface="Heebo Medium"/>
                <a:ea typeface="Heebo Medium"/>
                <a:cs typeface="Heebo Medium"/>
                <a:sym typeface="Heebo Medium"/>
              </a:rPr>
              <a:t>DATA CLEANING</a:t>
            </a:r>
          </a:p>
        </p:txBody>
      </p:sp>
      <p:sp>
        <p:nvSpPr>
          <p:cNvPr name="TextBox 19" id="19"/>
          <p:cNvSpPr txBox="true"/>
          <p:nvPr/>
        </p:nvSpPr>
        <p:spPr>
          <a:xfrm rot="0">
            <a:off x="1028700" y="1768004"/>
            <a:ext cx="16596699" cy="771525"/>
          </a:xfrm>
          <a:prstGeom prst="rect">
            <a:avLst/>
          </a:prstGeom>
        </p:spPr>
        <p:txBody>
          <a:bodyPr anchor="t" rtlCol="false" tIns="0" lIns="0" bIns="0" rIns="0">
            <a:spAutoFit/>
          </a:bodyPr>
          <a:lstStyle/>
          <a:p>
            <a:pPr algn="l">
              <a:lnSpc>
                <a:spcPts val="6299"/>
              </a:lnSpc>
              <a:spcBef>
                <a:spcPct val="0"/>
              </a:spcBef>
            </a:pPr>
            <a:r>
              <a:rPr lang="en-US" b="true" sz="4500">
                <a:solidFill>
                  <a:srgbClr val="000000"/>
                </a:solidFill>
                <a:latin typeface="Heebo Bold"/>
                <a:ea typeface="Heebo Bold"/>
                <a:cs typeface="Heebo Bold"/>
                <a:sym typeface="Heebo Bold"/>
              </a:rPr>
              <a:t>HANDLING MISSING AND NON STANDARD VALUES - OUTPUT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665358" y="292849"/>
            <a:ext cx="8115300" cy="971550"/>
          </a:xfrm>
          <a:prstGeom prst="rect">
            <a:avLst/>
          </a:prstGeom>
        </p:spPr>
        <p:txBody>
          <a:bodyPr anchor="t" rtlCol="false" tIns="0" lIns="0" bIns="0" rIns="0">
            <a:spAutoFit/>
          </a:bodyPr>
          <a:lstStyle/>
          <a:p>
            <a:pPr algn="l">
              <a:lnSpc>
                <a:spcPts val="7799"/>
              </a:lnSpc>
            </a:pPr>
            <a:r>
              <a:rPr lang="en-US" sz="6499" b="true">
                <a:solidFill>
                  <a:srgbClr val="FDFFF8"/>
                </a:solidFill>
                <a:latin typeface="Heebo Medium"/>
                <a:ea typeface="Heebo Medium"/>
                <a:cs typeface="Heebo Medium"/>
                <a:sym typeface="Heebo Medium"/>
              </a:rPr>
              <a:t>DATA CLEANING</a:t>
            </a:r>
          </a:p>
        </p:txBody>
      </p:sp>
      <p:sp>
        <p:nvSpPr>
          <p:cNvPr name="TextBox 17" id="17"/>
          <p:cNvSpPr txBox="true"/>
          <p:nvPr/>
        </p:nvSpPr>
        <p:spPr>
          <a:xfrm rot="0">
            <a:off x="665358" y="1370929"/>
            <a:ext cx="8115300"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FINDING OUTLIERS</a:t>
            </a:r>
          </a:p>
        </p:txBody>
      </p:sp>
      <p:sp>
        <p:nvSpPr>
          <p:cNvPr name="TextBox 18" id="18"/>
          <p:cNvSpPr txBox="true"/>
          <p:nvPr/>
        </p:nvSpPr>
        <p:spPr>
          <a:xfrm rot="0">
            <a:off x="665358" y="1964562"/>
            <a:ext cx="17622642" cy="5624300"/>
          </a:xfrm>
          <a:prstGeom prst="rect">
            <a:avLst/>
          </a:prstGeom>
        </p:spPr>
        <p:txBody>
          <a:bodyPr anchor="t" rtlCol="false" tIns="0" lIns="0" bIns="0" rIns="0">
            <a:spAutoFit/>
          </a:bodyPr>
          <a:lstStyle/>
          <a:p>
            <a:pPr algn="l">
              <a:lnSpc>
                <a:spcPts val="4999"/>
              </a:lnSpc>
              <a:spcBef>
                <a:spcPct val="0"/>
              </a:spcBef>
            </a:pPr>
          </a:p>
          <a:p>
            <a:pPr algn="l" marL="770954" indent="-385477" lvl="1">
              <a:lnSpc>
                <a:spcPts val="4999"/>
              </a:lnSpc>
              <a:spcBef>
                <a:spcPct val="0"/>
              </a:spcBef>
              <a:buFont typeface="Arial"/>
              <a:buChar char="•"/>
            </a:pPr>
            <a:r>
              <a:rPr lang="en-US" sz="3570">
                <a:solidFill>
                  <a:srgbClr val="FDFFF8"/>
                </a:solidFill>
                <a:latin typeface="Heebo"/>
                <a:ea typeface="Heebo"/>
                <a:cs typeface="Heebo"/>
                <a:sym typeface="Heebo"/>
              </a:rPr>
              <a:t>IQR (Interquartile Range): Calculate Q1 (25th percentile) and Q3 (75th percentile). Outliers are often defined as points lying outside Q1−1.5×IQRQ1 - 1.5 \times IQRQ1−1.5×IQR and Q3+1.5×IQRQ3 + 1.5 \times IQRQ3+1.5×IQR, where IQR=Q3−Q1IQR = Q3 - Q1IQR=Q3−Q1.</a:t>
            </a:r>
          </a:p>
          <a:p>
            <a:pPr algn="l" marL="770954" indent="-385477" lvl="1">
              <a:lnSpc>
                <a:spcPts val="4999"/>
              </a:lnSpc>
              <a:spcBef>
                <a:spcPct val="0"/>
              </a:spcBef>
              <a:buFont typeface="Arial"/>
              <a:buChar char="•"/>
            </a:pPr>
            <a:r>
              <a:rPr lang="en-US" sz="3570">
                <a:solidFill>
                  <a:srgbClr val="FDFFF8"/>
                </a:solidFill>
                <a:latin typeface="Heebo"/>
                <a:ea typeface="Heebo"/>
                <a:cs typeface="Heebo"/>
                <a:sym typeface="Heebo"/>
              </a:rPr>
              <a:t>IQR is used with the rows having numerical continuous data(e.g., 'Age', 'Monthly Income', 'Number of Promotions', 'Distance from Home')</a:t>
            </a:r>
          </a:p>
          <a:p>
            <a:pPr algn="l">
              <a:lnSpc>
                <a:spcPts val="4999"/>
              </a:lnSpc>
              <a:spcBef>
                <a:spcPct val="0"/>
              </a:spcBef>
            </a:pPr>
          </a:p>
          <a:p>
            <a:pPr algn="l">
              <a:lnSpc>
                <a:spcPts val="4999"/>
              </a:lnSpc>
              <a:spcBef>
                <a:spcPct val="0"/>
              </a:spcBef>
            </a:pPr>
          </a:p>
        </p:txBody>
      </p:sp>
      <p:sp>
        <p:nvSpPr>
          <p:cNvPr name="TextBox 19" id="19"/>
          <p:cNvSpPr txBox="true"/>
          <p:nvPr/>
        </p:nvSpPr>
        <p:spPr>
          <a:xfrm rot="0">
            <a:off x="1028700" y="7903412"/>
            <a:ext cx="16596699" cy="1223772"/>
          </a:xfrm>
          <a:prstGeom prst="rect">
            <a:avLst/>
          </a:prstGeom>
        </p:spPr>
        <p:txBody>
          <a:bodyPr anchor="t" rtlCol="false" tIns="0" lIns="0" bIns="0" rIns="0">
            <a:spAutoFit/>
          </a:bodyPr>
          <a:lstStyle/>
          <a:p>
            <a:pPr algn="l">
              <a:lnSpc>
                <a:spcPts val="4998"/>
              </a:lnSpc>
              <a:spcBef>
                <a:spcPct val="0"/>
              </a:spcBef>
            </a:pPr>
            <a:r>
              <a:rPr lang="en-US" sz="3570">
                <a:solidFill>
                  <a:srgbClr val="FDFFF8"/>
                </a:solidFill>
                <a:latin typeface="Heebo"/>
                <a:ea typeface="Heebo"/>
                <a:cs typeface="Heebo"/>
                <a:sym typeface="Heebo"/>
              </a:rPr>
              <a:t>Capping: Limit extreme values by capping them at a certain percentile (e.g., the 1st and 99th percentiles).</a:t>
            </a:r>
          </a:p>
        </p:txBody>
      </p:sp>
      <p:sp>
        <p:nvSpPr>
          <p:cNvPr name="TextBox 20" id="20"/>
          <p:cNvSpPr txBox="true"/>
          <p:nvPr/>
        </p:nvSpPr>
        <p:spPr>
          <a:xfrm rot="0">
            <a:off x="665358" y="6798287"/>
            <a:ext cx="8115300"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HANDLING OUTLIERS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1252632" y="2040945"/>
            <a:ext cx="15412414" cy="8246055"/>
          </a:xfrm>
          <a:custGeom>
            <a:avLst/>
            <a:gdLst/>
            <a:ahLst/>
            <a:cxnLst/>
            <a:rect r="r" b="b" t="t" l="l"/>
            <a:pathLst>
              <a:path h="8246055" w="15412414">
                <a:moveTo>
                  <a:pt x="0" y="0"/>
                </a:moveTo>
                <a:lnTo>
                  <a:pt x="15412414" y="0"/>
                </a:lnTo>
                <a:lnTo>
                  <a:pt x="15412414" y="8246055"/>
                </a:lnTo>
                <a:lnTo>
                  <a:pt x="0" y="8246055"/>
                </a:lnTo>
                <a:lnTo>
                  <a:pt x="0" y="0"/>
                </a:lnTo>
                <a:close/>
              </a:path>
            </a:pathLst>
          </a:custGeom>
          <a:blipFill>
            <a:blip r:embed="rId2"/>
            <a:stretch>
              <a:fillRect l="-4953" t="-5204" r="-8185" b="0"/>
            </a:stretch>
          </a:blipFill>
        </p:spPr>
      </p:sp>
      <p:sp>
        <p:nvSpPr>
          <p:cNvPr name="TextBox 17" id="17"/>
          <p:cNvSpPr txBox="true"/>
          <p:nvPr/>
        </p:nvSpPr>
        <p:spPr>
          <a:xfrm rot="0">
            <a:off x="665358" y="292849"/>
            <a:ext cx="8115300" cy="971550"/>
          </a:xfrm>
          <a:prstGeom prst="rect">
            <a:avLst/>
          </a:prstGeom>
        </p:spPr>
        <p:txBody>
          <a:bodyPr anchor="t" rtlCol="false" tIns="0" lIns="0" bIns="0" rIns="0">
            <a:spAutoFit/>
          </a:bodyPr>
          <a:lstStyle/>
          <a:p>
            <a:pPr algn="l">
              <a:lnSpc>
                <a:spcPts val="7799"/>
              </a:lnSpc>
            </a:pPr>
            <a:r>
              <a:rPr lang="en-US" sz="6499" b="true">
                <a:solidFill>
                  <a:srgbClr val="2D3E96"/>
                </a:solidFill>
                <a:latin typeface="Heebo Medium"/>
                <a:ea typeface="Heebo Medium"/>
                <a:cs typeface="Heebo Medium"/>
                <a:sym typeface="Heebo Medium"/>
              </a:rPr>
              <a:t>DATA CLEANING</a:t>
            </a:r>
          </a:p>
        </p:txBody>
      </p:sp>
      <p:sp>
        <p:nvSpPr>
          <p:cNvPr name="TextBox 18" id="18"/>
          <p:cNvSpPr txBox="true"/>
          <p:nvPr/>
        </p:nvSpPr>
        <p:spPr>
          <a:xfrm rot="0">
            <a:off x="665358" y="1370929"/>
            <a:ext cx="8115300" cy="790575"/>
          </a:xfrm>
          <a:prstGeom prst="rect">
            <a:avLst/>
          </a:prstGeom>
        </p:spPr>
        <p:txBody>
          <a:bodyPr anchor="t" rtlCol="false" tIns="0" lIns="0" bIns="0" rIns="0">
            <a:spAutoFit/>
          </a:bodyPr>
          <a:lstStyle/>
          <a:p>
            <a:pPr algn="l">
              <a:lnSpc>
                <a:spcPts val="6239"/>
              </a:lnSpc>
            </a:pPr>
            <a:r>
              <a:rPr lang="en-US" sz="5199" b="true">
                <a:solidFill>
                  <a:srgbClr val="000000"/>
                </a:solidFill>
                <a:latin typeface="Heebo Medium"/>
                <a:ea typeface="Heebo Medium"/>
                <a:cs typeface="Heebo Medium"/>
                <a:sym typeface="Heebo Medium"/>
              </a:rPr>
              <a:t>HANDLING OUTLIERS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5118690" y="2513305"/>
            <a:ext cx="8577980" cy="6945974"/>
          </a:xfrm>
          <a:custGeom>
            <a:avLst/>
            <a:gdLst/>
            <a:ahLst/>
            <a:cxnLst/>
            <a:rect r="r" b="b" t="t" l="l"/>
            <a:pathLst>
              <a:path h="6945974" w="8577980">
                <a:moveTo>
                  <a:pt x="0" y="0"/>
                </a:moveTo>
                <a:lnTo>
                  <a:pt x="8577979" y="0"/>
                </a:lnTo>
                <a:lnTo>
                  <a:pt x="8577979" y="6945974"/>
                </a:lnTo>
                <a:lnTo>
                  <a:pt x="0" y="6945974"/>
                </a:lnTo>
                <a:lnTo>
                  <a:pt x="0" y="0"/>
                </a:lnTo>
                <a:close/>
              </a:path>
            </a:pathLst>
          </a:custGeom>
          <a:blipFill>
            <a:blip r:embed="rId2"/>
            <a:stretch>
              <a:fillRect l="0" t="0" r="0" b="0"/>
            </a:stretch>
          </a:blipFill>
        </p:spPr>
      </p:sp>
      <p:sp>
        <p:nvSpPr>
          <p:cNvPr name="TextBox 17" id="17"/>
          <p:cNvSpPr txBox="true"/>
          <p:nvPr/>
        </p:nvSpPr>
        <p:spPr>
          <a:xfrm rot="0">
            <a:off x="665358" y="292849"/>
            <a:ext cx="8115300" cy="971550"/>
          </a:xfrm>
          <a:prstGeom prst="rect">
            <a:avLst/>
          </a:prstGeom>
        </p:spPr>
        <p:txBody>
          <a:bodyPr anchor="t" rtlCol="false" tIns="0" lIns="0" bIns="0" rIns="0">
            <a:spAutoFit/>
          </a:bodyPr>
          <a:lstStyle/>
          <a:p>
            <a:pPr algn="l">
              <a:lnSpc>
                <a:spcPts val="7799"/>
              </a:lnSpc>
            </a:pPr>
            <a:r>
              <a:rPr lang="en-US" sz="6499" b="true">
                <a:solidFill>
                  <a:srgbClr val="2D3E96"/>
                </a:solidFill>
                <a:latin typeface="Heebo Medium"/>
                <a:ea typeface="Heebo Medium"/>
                <a:cs typeface="Heebo Medium"/>
                <a:sym typeface="Heebo Medium"/>
              </a:rPr>
              <a:t>DATA CLEANING</a:t>
            </a:r>
          </a:p>
        </p:txBody>
      </p:sp>
      <p:sp>
        <p:nvSpPr>
          <p:cNvPr name="TextBox 18" id="18"/>
          <p:cNvSpPr txBox="true"/>
          <p:nvPr/>
        </p:nvSpPr>
        <p:spPr>
          <a:xfrm rot="0">
            <a:off x="665358" y="1370929"/>
            <a:ext cx="10046193" cy="790575"/>
          </a:xfrm>
          <a:prstGeom prst="rect">
            <a:avLst/>
          </a:prstGeom>
        </p:spPr>
        <p:txBody>
          <a:bodyPr anchor="t" rtlCol="false" tIns="0" lIns="0" bIns="0" rIns="0">
            <a:spAutoFit/>
          </a:bodyPr>
          <a:lstStyle/>
          <a:p>
            <a:pPr algn="l">
              <a:lnSpc>
                <a:spcPts val="6239"/>
              </a:lnSpc>
            </a:pPr>
            <a:r>
              <a:rPr lang="en-US" sz="5199" b="true">
                <a:solidFill>
                  <a:srgbClr val="000000"/>
                </a:solidFill>
                <a:latin typeface="Heebo Medium"/>
                <a:ea typeface="Heebo Medium"/>
                <a:cs typeface="Heebo Medium"/>
                <a:sym typeface="Heebo Medium"/>
              </a:rPr>
              <a:t>HANDLING OUTLIERS - OUTPUT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1902238" y="2874070"/>
            <a:ext cx="11301259" cy="3814175"/>
          </a:xfrm>
          <a:custGeom>
            <a:avLst/>
            <a:gdLst/>
            <a:ahLst/>
            <a:cxnLst/>
            <a:rect r="r" b="b" t="t" l="l"/>
            <a:pathLst>
              <a:path h="3814175" w="11301259">
                <a:moveTo>
                  <a:pt x="0" y="0"/>
                </a:moveTo>
                <a:lnTo>
                  <a:pt x="11301259" y="0"/>
                </a:lnTo>
                <a:lnTo>
                  <a:pt x="11301259" y="3814175"/>
                </a:lnTo>
                <a:lnTo>
                  <a:pt x="0" y="3814175"/>
                </a:lnTo>
                <a:lnTo>
                  <a:pt x="0" y="0"/>
                </a:lnTo>
                <a:close/>
              </a:path>
            </a:pathLst>
          </a:custGeom>
          <a:blipFill>
            <a:blip r:embed="rId2"/>
            <a:stretch>
              <a:fillRect l="0" t="0" r="0" b="0"/>
            </a:stretch>
          </a:blipFill>
        </p:spPr>
      </p:sp>
      <p:sp>
        <p:nvSpPr>
          <p:cNvPr name="TextBox 17" id="17"/>
          <p:cNvSpPr txBox="true"/>
          <p:nvPr/>
        </p:nvSpPr>
        <p:spPr>
          <a:xfrm rot="0">
            <a:off x="565485" y="606821"/>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EXPLORATORY DATA ANALYSIS</a:t>
            </a:r>
          </a:p>
        </p:txBody>
      </p:sp>
      <p:sp>
        <p:nvSpPr>
          <p:cNvPr name="TextBox 18" id="18"/>
          <p:cNvSpPr txBox="true"/>
          <p:nvPr/>
        </p:nvSpPr>
        <p:spPr>
          <a:xfrm rot="0">
            <a:off x="565485" y="1645657"/>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COUNT PLOT</a:t>
            </a:r>
          </a:p>
        </p:txBody>
      </p:sp>
      <p:sp>
        <p:nvSpPr>
          <p:cNvPr name="TextBox 19" id="19"/>
          <p:cNvSpPr txBox="true"/>
          <p:nvPr/>
        </p:nvSpPr>
        <p:spPr>
          <a:xfrm rot="0">
            <a:off x="2280722" y="7574116"/>
            <a:ext cx="8413447" cy="1920344"/>
          </a:xfrm>
          <a:prstGeom prst="rect">
            <a:avLst/>
          </a:prstGeom>
        </p:spPr>
        <p:txBody>
          <a:bodyPr anchor="t" rtlCol="false" tIns="0" lIns="0" bIns="0" rIns="0">
            <a:spAutoFit/>
          </a:bodyPr>
          <a:lstStyle/>
          <a:p>
            <a:pPr algn="ctr" marL="598238" indent="-299119" lvl="1">
              <a:lnSpc>
                <a:spcPts val="3879"/>
              </a:lnSpc>
              <a:buFont typeface="Arial"/>
              <a:buChar char="•"/>
            </a:pPr>
            <a:r>
              <a:rPr lang="en-US" sz="2770">
                <a:solidFill>
                  <a:srgbClr val="FDFFF8"/>
                </a:solidFill>
                <a:latin typeface="Heebo"/>
                <a:ea typeface="Heebo"/>
                <a:cs typeface="Heebo"/>
                <a:sym typeface="Heebo"/>
              </a:rPr>
              <a:t> Identify the distribution of categorical features and their impact on attrition.</a:t>
            </a:r>
          </a:p>
          <a:p>
            <a:pPr algn="ctr" marL="598238" indent="-299119" lvl="1">
              <a:lnSpc>
                <a:spcPts val="3879"/>
              </a:lnSpc>
              <a:buFont typeface="Arial"/>
              <a:buChar char="•"/>
            </a:pPr>
            <a:r>
              <a:rPr lang="en-US" sz="2770">
                <a:solidFill>
                  <a:srgbClr val="FDFFF8"/>
                </a:solidFill>
                <a:latin typeface="Heebo"/>
                <a:ea typeface="Heebo"/>
                <a:cs typeface="Heebo"/>
                <a:sym typeface="Heebo"/>
              </a:rPr>
              <a:t>Examine the distribution of numerical features to identify patterns or potential outliers.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1863" y="1028700"/>
            <a:ext cx="7146462" cy="8809253"/>
          </a:xfrm>
          <a:custGeom>
            <a:avLst/>
            <a:gdLst/>
            <a:ahLst/>
            <a:cxnLst/>
            <a:rect r="r" b="b" t="t" l="l"/>
            <a:pathLst>
              <a:path h="8809253" w="7146462">
                <a:moveTo>
                  <a:pt x="0" y="0"/>
                </a:moveTo>
                <a:lnTo>
                  <a:pt x="7146462" y="0"/>
                </a:lnTo>
                <a:lnTo>
                  <a:pt x="7146462" y="8809253"/>
                </a:lnTo>
                <a:lnTo>
                  <a:pt x="0" y="8809253"/>
                </a:lnTo>
                <a:lnTo>
                  <a:pt x="0" y="0"/>
                </a:lnTo>
                <a:close/>
              </a:path>
            </a:pathLst>
          </a:custGeom>
          <a:blipFill>
            <a:blip r:embed="rId2"/>
            <a:stretch>
              <a:fillRect l="-793" t="-982" r="0" b="-982"/>
            </a:stretch>
          </a:blipFill>
        </p:spPr>
      </p:sp>
      <p:sp>
        <p:nvSpPr>
          <p:cNvPr name="TextBox 3" id="3"/>
          <p:cNvSpPr txBox="true"/>
          <p:nvPr/>
        </p:nvSpPr>
        <p:spPr>
          <a:xfrm rot="0">
            <a:off x="1104025" y="285658"/>
            <a:ext cx="7742137"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ebo Medium"/>
                <a:ea typeface="Heebo Medium"/>
                <a:cs typeface="Heebo Medium"/>
                <a:sym typeface="Heebo Medium"/>
              </a:rPr>
              <a:t>COUNT PLOT OUTPUT</a:t>
            </a:r>
          </a:p>
        </p:txBody>
      </p:sp>
      <p:sp>
        <p:nvSpPr>
          <p:cNvPr name="TextBox 4" id="4"/>
          <p:cNvSpPr txBox="true"/>
          <p:nvPr/>
        </p:nvSpPr>
        <p:spPr>
          <a:xfrm rot="0">
            <a:off x="9144000" y="3080491"/>
            <a:ext cx="8413447" cy="4349219"/>
          </a:xfrm>
          <a:prstGeom prst="rect">
            <a:avLst/>
          </a:prstGeom>
        </p:spPr>
        <p:txBody>
          <a:bodyPr anchor="t" rtlCol="false" tIns="0" lIns="0" bIns="0" rIns="0">
            <a:spAutoFit/>
          </a:bodyPr>
          <a:lstStyle/>
          <a:p>
            <a:pPr algn="l" marL="598238" indent="-299119" lvl="1">
              <a:lnSpc>
                <a:spcPts val="3879"/>
              </a:lnSpc>
              <a:buFont typeface="Arial"/>
              <a:buChar char="•"/>
            </a:pPr>
            <a:r>
              <a:rPr lang="en-US" sz="2770">
                <a:solidFill>
                  <a:srgbClr val="2D3E96"/>
                </a:solidFill>
                <a:latin typeface="Heebo"/>
                <a:ea typeface="Heebo"/>
                <a:cs typeface="Heebo"/>
                <a:sym typeface="Heebo"/>
              </a:rPr>
              <a:t>Gender: Males tend to stay longer compared to females.</a:t>
            </a:r>
          </a:p>
          <a:p>
            <a:pPr algn="l" marL="598238" indent="-299119" lvl="1">
              <a:lnSpc>
                <a:spcPts val="3879"/>
              </a:lnSpc>
              <a:buFont typeface="Arial"/>
              <a:buChar char="•"/>
            </a:pPr>
            <a:r>
              <a:rPr lang="en-US" sz="2770">
                <a:solidFill>
                  <a:srgbClr val="2D3E96"/>
                </a:solidFill>
                <a:latin typeface="Heebo"/>
                <a:ea typeface="Heebo"/>
                <a:cs typeface="Heebo"/>
                <a:sym typeface="Heebo"/>
              </a:rPr>
              <a:t> Work-Life Balance: Poor work-life balance increases the likelihood of attrition. </a:t>
            </a:r>
          </a:p>
          <a:p>
            <a:pPr algn="l" marL="598238" indent="-299119" lvl="1">
              <a:lnSpc>
                <a:spcPts val="3879"/>
              </a:lnSpc>
              <a:buFont typeface="Arial"/>
              <a:buChar char="•"/>
            </a:pPr>
            <a:r>
              <a:rPr lang="en-US" sz="2770">
                <a:solidFill>
                  <a:srgbClr val="2D3E96"/>
                </a:solidFill>
                <a:latin typeface="Heebo"/>
                <a:ea typeface="Heebo"/>
                <a:cs typeface="Heebo"/>
                <a:sym typeface="Heebo"/>
              </a:rPr>
              <a:t> Job Satisfaction: Employees with very low or very high satisfaction tend to leave, while those with medium to high satisfaction stay longer</a:t>
            </a:r>
          </a:p>
          <a:p>
            <a:pPr algn="l" marL="598238" indent="-299119" lvl="1">
              <a:lnSpc>
                <a:spcPts val="3879"/>
              </a:lnSpc>
              <a:buFont typeface="Arial"/>
              <a:buChar char="•"/>
            </a:pPr>
            <a:r>
              <a:rPr lang="en-US" sz="2770">
                <a:solidFill>
                  <a:srgbClr val="2D3E96"/>
                </a:solidFill>
                <a:latin typeface="Heebo"/>
                <a:ea typeface="Heebo"/>
                <a:cs typeface="Heebo"/>
                <a:sym typeface="Heebo"/>
              </a:rPr>
              <a:t> Overtime: Employees who work overtime are more likely to leave if not properly compensated. </a:t>
            </a:r>
          </a:p>
        </p:txBody>
      </p:sp>
      <p:sp>
        <p:nvSpPr>
          <p:cNvPr name="TextBox 5" id="5"/>
          <p:cNvSpPr txBox="true"/>
          <p:nvPr/>
        </p:nvSpPr>
        <p:spPr>
          <a:xfrm rot="0">
            <a:off x="9517163" y="2128991"/>
            <a:ext cx="7742137" cy="514350"/>
          </a:xfrm>
          <a:prstGeom prst="rect">
            <a:avLst/>
          </a:prstGeom>
        </p:spPr>
        <p:txBody>
          <a:bodyPr anchor="t" rtlCol="false" tIns="0" lIns="0" bIns="0" rIns="0">
            <a:spAutoFit/>
          </a:bodyPr>
          <a:lstStyle/>
          <a:p>
            <a:pPr algn="l">
              <a:lnSpc>
                <a:spcPts val="4079"/>
              </a:lnSpc>
            </a:pPr>
            <a:r>
              <a:rPr lang="en-US" sz="3399" b="true">
                <a:solidFill>
                  <a:srgbClr val="2D3E96"/>
                </a:solidFill>
                <a:latin typeface="Heebo Medium"/>
                <a:ea typeface="Heebo Medium"/>
                <a:cs typeface="Heebo Medium"/>
                <a:sym typeface="Heebo Medium"/>
              </a:rPr>
              <a:t>INSIGHTS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565485" y="2683882"/>
            <a:ext cx="11282344" cy="2031959"/>
          </a:xfrm>
          <a:custGeom>
            <a:avLst/>
            <a:gdLst/>
            <a:ahLst/>
            <a:cxnLst/>
            <a:rect r="r" b="b" t="t" l="l"/>
            <a:pathLst>
              <a:path h="2031959" w="11282344">
                <a:moveTo>
                  <a:pt x="0" y="0"/>
                </a:moveTo>
                <a:lnTo>
                  <a:pt x="11282343" y="0"/>
                </a:lnTo>
                <a:lnTo>
                  <a:pt x="11282343" y="2031959"/>
                </a:lnTo>
                <a:lnTo>
                  <a:pt x="0" y="2031959"/>
                </a:lnTo>
                <a:lnTo>
                  <a:pt x="0" y="0"/>
                </a:lnTo>
                <a:close/>
              </a:path>
            </a:pathLst>
          </a:custGeom>
          <a:blipFill>
            <a:blip r:embed="rId2"/>
            <a:stretch>
              <a:fillRect l="0" t="0" r="0" b="0"/>
            </a:stretch>
          </a:blipFill>
        </p:spPr>
      </p:sp>
      <p:sp>
        <p:nvSpPr>
          <p:cNvPr name="Freeform 17" id="17"/>
          <p:cNvSpPr/>
          <p:nvPr/>
        </p:nvSpPr>
        <p:spPr>
          <a:xfrm flipH="false" flipV="false" rot="0">
            <a:off x="9700443" y="3699862"/>
            <a:ext cx="7924956" cy="5953774"/>
          </a:xfrm>
          <a:custGeom>
            <a:avLst/>
            <a:gdLst/>
            <a:ahLst/>
            <a:cxnLst/>
            <a:rect r="r" b="b" t="t" l="l"/>
            <a:pathLst>
              <a:path h="5953774" w="7924956">
                <a:moveTo>
                  <a:pt x="0" y="0"/>
                </a:moveTo>
                <a:lnTo>
                  <a:pt x="7924956" y="0"/>
                </a:lnTo>
                <a:lnTo>
                  <a:pt x="7924956" y="5953774"/>
                </a:lnTo>
                <a:lnTo>
                  <a:pt x="0" y="5953774"/>
                </a:lnTo>
                <a:lnTo>
                  <a:pt x="0" y="0"/>
                </a:lnTo>
                <a:close/>
              </a:path>
            </a:pathLst>
          </a:custGeom>
          <a:blipFill>
            <a:blip r:embed="rId3"/>
            <a:stretch>
              <a:fillRect l="0" t="0" r="0" b="0"/>
            </a:stretch>
          </a:blipFill>
        </p:spPr>
      </p:sp>
      <p:sp>
        <p:nvSpPr>
          <p:cNvPr name="TextBox 18" id="18"/>
          <p:cNvSpPr txBox="true"/>
          <p:nvPr/>
        </p:nvSpPr>
        <p:spPr>
          <a:xfrm rot="0">
            <a:off x="565485" y="606821"/>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EXPLORATORY DATA ANALYSIS</a:t>
            </a:r>
          </a:p>
        </p:txBody>
      </p:sp>
      <p:sp>
        <p:nvSpPr>
          <p:cNvPr name="TextBox 19" id="19"/>
          <p:cNvSpPr txBox="true"/>
          <p:nvPr/>
        </p:nvSpPr>
        <p:spPr>
          <a:xfrm rot="0">
            <a:off x="565485" y="1645657"/>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BIVARIATE ANALYSIS</a:t>
            </a:r>
          </a:p>
        </p:txBody>
      </p:sp>
      <p:sp>
        <p:nvSpPr>
          <p:cNvPr name="TextBox 20" id="20"/>
          <p:cNvSpPr txBox="true"/>
          <p:nvPr/>
        </p:nvSpPr>
        <p:spPr>
          <a:xfrm rot="0">
            <a:off x="361444" y="6378847"/>
            <a:ext cx="8413447" cy="2406119"/>
          </a:xfrm>
          <a:prstGeom prst="rect">
            <a:avLst/>
          </a:prstGeom>
        </p:spPr>
        <p:txBody>
          <a:bodyPr anchor="t" rtlCol="false" tIns="0" lIns="0" bIns="0" rIns="0">
            <a:spAutoFit/>
          </a:bodyPr>
          <a:lstStyle/>
          <a:p>
            <a:pPr algn="ctr" marL="598238" indent="-299119" lvl="1">
              <a:lnSpc>
                <a:spcPts val="3879"/>
              </a:lnSpc>
              <a:buFont typeface="Arial"/>
              <a:buChar char="•"/>
            </a:pPr>
            <a:r>
              <a:rPr lang="en-US" sz="2770">
                <a:solidFill>
                  <a:srgbClr val="FDFFF8"/>
                </a:solidFill>
                <a:latin typeface="Heebo"/>
                <a:ea typeface="Heebo"/>
                <a:cs typeface="Heebo"/>
                <a:sym typeface="Heebo"/>
              </a:rPr>
              <a:t>Analyze the impact of numerical features like Monthly Income and Years at Company on attrition.</a:t>
            </a:r>
          </a:p>
          <a:p>
            <a:pPr algn="ctr" marL="598238" indent="-299119" lvl="1">
              <a:lnSpc>
                <a:spcPts val="3879"/>
              </a:lnSpc>
              <a:buFont typeface="Arial"/>
              <a:buChar char="•"/>
            </a:pPr>
            <a:r>
              <a:rPr lang="en-US" sz="2770">
                <a:solidFill>
                  <a:srgbClr val="FDFFF8"/>
                </a:solidFill>
                <a:latin typeface="Heebo"/>
                <a:ea typeface="Heebo"/>
                <a:cs typeface="Heebo"/>
                <a:sym typeface="Heebo"/>
              </a:rPr>
              <a:t>Examine the influence of categorical features on attrition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026" y="1583221"/>
            <a:ext cx="8950194" cy="7898546"/>
          </a:xfrm>
          <a:custGeom>
            <a:avLst/>
            <a:gdLst/>
            <a:ahLst/>
            <a:cxnLst/>
            <a:rect r="r" b="b" t="t" l="l"/>
            <a:pathLst>
              <a:path h="7898546" w="8950194">
                <a:moveTo>
                  <a:pt x="0" y="0"/>
                </a:moveTo>
                <a:lnTo>
                  <a:pt x="8950195" y="0"/>
                </a:lnTo>
                <a:lnTo>
                  <a:pt x="8950195" y="7898546"/>
                </a:lnTo>
                <a:lnTo>
                  <a:pt x="0" y="7898546"/>
                </a:lnTo>
                <a:lnTo>
                  <a:pt x="0" y="0"/>
                </a:lnTo>
                <a:close/>
              </a:path>
            </a:pathLst>
          </a:custGeom>
          <a:blipFill>
            <a:blip r:embed="rId2"/>
            <a:stretch>
              <a:fillRect l="0" t="0" r="0" b="0"/>
            </a:stretch>
          </a:blipFill>
        </p:spPr>
      </p:sp>
      <p:sp>
        <p:nvSpPr>
          <p:cNvPr name="TextBox 3" id="3"/>
          <p:cNvSpPr txBox="true"/>
          <p:nvPr/>
        </p:nvSpPr>
        <p:spPr>
          <a:xfrm rot="0">
            <a:off x="1051055" y="771525"/>
            <a:ext cx="7742137"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ebo Medium"/>
                <a:ea typeface="Heebo Medium"/>
                <a:cs typeface="Heebo Medium"/>
                <a:sym typeface="Heebo Medium"/>
              </a:rPr>
              <a:t>CATOGORICAL BI</a:t>
            </a:r>
            <a:r>
              <a:rPr lang="en-US" sz="3399" b="true">
                <a:solidFill>
                  <a:srgbClr val="000000"/>
                </a:solidFill>
                <a:latin typeface="Heebo Medium"/>
                <a:ea typeface="Heebo Medium"/>
                <a:cs typeface="Heebo Medium"/>
                <a:sym typeface="Heebo Medium"/>
              </a:rPr>
              <a:t>VARIATE ANALYSIS</a:t>
            </a:r>
          </a:p>
        </p:txBody>
      </p:sp>
      <p:sp>
        <p:nvSpPr>
          <p:cNvPr name="TextBox 4" id="4"/>
          <p:cNvSpPr txBox="true"/>
          <p:nvPr/>
        </p:nvSpPr>
        <p:spPr>
          <a:xfrm rot="0">
            <a:off x="9397221" y="2323015"/>
            <a:ext cx="8413447" cy="5320769"/>
          </a:xfrm>
          <a:prstGeom prst="rect">
            <a:avLst/>
          </a:prstGeom>
        </p:spPr>
        <p:txBody>
          <a:bodyPr anchor="t" rtlCol="false" tIns="0" lIns="0" bIns="0" rIns="0">
            <a:spAutoFit/>
          </a:bodyPr>
          <a:lstStyle/>
          <a:p>
            <a:pPr algn="l">
              <a:lnSpc>
                <a:spcPts val="3879"/>
              </a:lnSpc>
            </a:pPr>
            <a:r>
              <a:rPr lang="en-US" sz="2770">
                <a:solidFill>
                  <a:srgbClr val="2D3E96"/>
                </a:solidFill>
                <a:latin typeface="Heebo"/>
                <a:ea typeface="Heebo"/>
                <a:cs typeface="Heebo"/>
                <a:sym typeface="Heebo"/>
              </a:rPr>
              <a:t> </a:t>
            </a:r>
          </a:p>
          <a:p>
            <a:pPr algn="l" marL="598238" indent="-299119" lvl="1">
              <a:lnSpc>
                <a:spcPts val="3879"/>
              </a:lnSpc>
              <a:buFont typeface="Arial"/>
              <a:buChar char="•"/>
            </a:pPr>
            <a:r>
              <a:rPr lang="en-US" sz="2770">
                <a:solidFill>
                  <a:srgbClr val="2D3E96"/>
                </a:solidFill>
                <a:latin typeface="Heebo"/>
                <a:ea typeface="Heebo"/>
                <a:cs typeface="Heebo"/>
                <a:sym typeface="Heebo"/>
              </a:rPr>
              <a:t> Distance from Home: No clear pattern emerges, but it could indirectly influence attrition when combined with other factors. </a:t>
            </a:r>
          </a:p>
          <a:p>
            <a:pPr algn="l" marL="598238" indent="-299119" lvl="1">
              <a:lnSpc>
                <a:spcPts val="3879"/>
              </a:lnSpc>
              <a:buFont typeface="Arial"/>
              <a:buChar char="•"/>
            </a:pPr>
            <a:r>
              <a:rPr lang="en-US" sz="2770">
                <a:solidFill>
                  <a:srgbClr val="2D3E96"/>
                </a:solidFill>
                <a:latin typeface="Heebo"/>
                <a:ea typeface="Heebo"/>
                <a:cs typeface="Heebo"/>
                <a:sym typeface="Heebo"/>
              </a:rPr>
              <a:t> Age: Older employees tend to stay longer, suggesting job stability with age. </a:t>
            </a:r>
          </a:p>
          <a:p>
            <a:pPr algn="l" marL="598238" indent="-299119" lvl="1">
              <a:lnSpc>
                <a:spcPts val="3879"/>
              </a:lnSpc>
              <a:buFont typeface="Arial"/>
              <a:buChar char="•"/>
            </a:pPr>
            <a:r>
              <a:rPr lang="en-US" sz="2770">
                <a:solidFill>
                  <a:srgbClr val="2D3E96"/>
                </a:solidFill>
                <a:latin typeface="Heebo"/>
                <a:ea typeface="Heebo"/>
                <a:cs typeface="Heebo"/>
                <a:sym typeface="Heebo"/>
              </a:rPr>
              <a:t> Number of Dependents: Employees with more dependents tend to stay longer, possibly due to fewer mobility options. </a:t>
            </a:r>
          </a:p>
          <a:p>
            <a:pPr algn="l" marL="598238" indent="-299119" lvl="1">
              <a:lnSpc>
                <a:spcPts val="3879"/>
              </a:lnSpc>
              <a:buFont typeface="Arial"/>
              <a:buChar char="•"/>
            </a:pPr>
            <a:r>
              <a:rPr lang="en-US" sz="2770">
                <a:solidFill>
                  <a:srgbClr val="2D3E96"/>
                </a:solidFill>
                <a:latin typeface="Heebo"/>
                <a:ea typeface="Heebo"/>
                <a:cs typeface="Heebo"/>
                <a:sym typeface="Heebo"/>
              </a:rPr>
              <a:t> Company Tenure: Longer-tenured employees are more likely to stay.</a:t>
            </a:r>
          </a:p>
        </p:txBody>
      </p:sp>
      <p:sp>
        <p:nvSpPr>
          <p:cNvPr name="TextBox 5" id="5"/>
          <p:cNvSpPr txBox="true"/>
          <p:nvPr/>
        </p:nvSpPr>
        <p:spPr>
          <a:xfrm rot="0">
            <a:off x="9960722" y="1583221"/>
            <a:ext cx="7286445"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ebo Medium"/>
                <a:ea typeface="Heebo Medium"/>
                <a:cs typeface="Heebo Medium"/>
                <a:sym typeface="Heebo Medium"/>
              </a:rPr>
              <a:t>INSIGHTS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34101" y="2163650"/>
            <a:ext cx="9419733" cy="7372951"/>
          </a:xfrm>
          <a:custGeom>
            <a:avLst/>
            <a:gdLst/>
            <a:ahLst/>
            <a:cxnLst/>
            <a:rect r="r" b="b" t="t" l="l"/>
            <a:pathLst>
              <a:path h="7372951" w="9419733">
                <a:moveTo>
                  <a:pt x="0" y="0"/>
                </a:moveTo>
                <a:lnTo>
                  <a:pt x="9419734" y="0"/>
                </a:lnTo>
                <a:lnTo>
                  <a:pt x="9419734" y="7372951"/>
                </a:lnTo>
                <a:lnTo>
                  <a:pt x="0" y="7372951"/>
                </a:lnTo>
                <a:lnTo>
                  <a:pt x="0" y="0"/>
                </a:lnTo>
                <a:close/>
              </a:path>
            </a:pathLst>
          </a:custGeom>
          <a:blipFill>
            <a:blip r:embed="rId2"/>
            <a:stretch>
              <a:fillRect l="0" t="-1024" r="0" b="-1024"/>
            </a:stretch>
          </a:blipFill>
        </p:spPr>
      </p:sp>
      <p:sp>
        <p:nvSpPr>
          <p:cNvPr name="TextBox 3" id="3"/>
          <p:cNvSpPr txBox="true"/>
          <p:nvPr/>
        </p:nvSpPr>
        <p:spPr>
          <a:xfrm rot="0">
            <a:off x="1578923" y="1222049"/>
            <a:ext cx="7286445"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ebo Medium"/>
                <a:ea typeface="Heebo Medium"/>
                <a:cs typeface="Heebo Medium"/>
                <a:sym typeface="Heebo Medium"/>
              </a:rPr>
              <a:t>NUMERICAL BIVARIATE ANALYSIS</a:t>
            </a:r>
          </a:p>
        </p:txBody>
      </p:sp>
      <p:sp>
        <p:nvSpPr>
          <p:cNvPr name="TextBox 4" id="4"/>
          <p:cNvSpPr txBox="true"/>
          <p:nvPr/>
        </p:nvSpPr>
        <p:spPr>
          <a:xfrm rot="0">
            <a:off x="10935584" y="4210366"/>
            <a:ext cx="5695875" cy="2406119"/>
          </a:xfrm>
          <a:prstGeom prst="rect">
            <a:avLst/>
          </a:prstGeom>
        </p:spPr>
        <p:txBody>
          <a:bodyPr anchor="t" rtlCol="false" tIns="0" lIns="0" bIns="0" rIns="0">
            <a:spAutoFit/>
          </a:bodyPr>
          <a:lstStyle/>
          <a:p>
            <a:pPr algn="l" marL="598238" indent="-299119" lvl="1">
              <a:lnSpc>
                <a:spcPts val="3879"/>
              </a:lnSpc>
              <a:buFont typeface="Arial"/>
              <a:buChar char="•"/>
            </a:pPr>
            <a:r>
              <a:rPr lang="en-US" sz="2770">
                <a:solidFill>
                  <a:srgbClr val="2D3E96"/>
                </a:solidFill>
                <a:latin typeface="Heebo"/>
                <a:ea typeface="Heebo"/>
                <a:cs typeface="Heebo"/>
                <a:sym typeface="Heebo"/>
              </a:rPr>
              <a:t>Monthly Income: No significant difference between employees who stay vs. leave, though high-income outliers could reflect senior roles.</a:t>
            </a:r>
          </a:p>
        </p:txBody>
      </p:sp>
      <p:sp>
        <p:nvSpPr>
          <p:cNvPr name="TextBox 5" id="5"/>
          <p:cNvSpPr txBox="true"/>
          <p:nvPr/>
        </p:nvSpPr>
        <p:spPr>
          <a:xfrm rot="0">
            <a:off x="11277654" y="3456497"/>
            <a:ext cx="7286445"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ebo Medium"/>
                <a:ea typeface="Heebo Medium"/>
                <a:cs typeface="Heebo Medium"/>
                <a:sym typeface="Heebo Medium"/>
              </a:rPr>
              <a:t>INSIGHTS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1159568" y="2992508"/>
            <a:ext cx="15874498" cy="2677332"/>
          </a:xfrm>
          <a:custGeom>
            <a:avLst/>
            <a:gdLst/>
            <a:ahLst/>
            <a:cxnLst/>
            <a:rect r="r" b="b" t="t" l="l"/>
            <a:pathLst>
              <a:path h="2677332" w="15874498">
                <a:moveTo>
                  <a:pt x="0" y="0"/>
                </a:moveTo>
                <a:lnTo>
                  <a:pt x="15874498" y="0"/>
                </a:lnTo>
                <a:lnTo>
                  <a:pt x="15874498" y="2677332"/>
                </a:lnTo>
                <a:lnTo>
                  <a:pt x="0" y="2677332"/>
                </a:lnTo>
                <a:lnTo>
                  <a:pt x="0" y="0"/>
                </a:lnTo>
                <a:close/>
              </a:path>
            </a:pathLst>
          </a:custGeom>
          <a:blipFill>
            <a:blip r:embed="rId2"/>
            <a:stretch>
              <a:fillRect l="-10327" t="0" r="-5987" b="0"/>
            </a:stretch>
          </a:blipFill>
        </p:spPr>
      </p:sp>
      <p:sp>
        <p:nvSpPr>
          <p:cNvPr name="TextBox 17" id="17"/>
          <p:cNvSpPr txBox="true"/>
          <p:nvPr/>
        </p:nvSpPr>
        <p:spPr>
          <a:xfrm rot="0">
            <a:off x="565485" y="606821"/>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EXPLORATORY DATA ANALYSIS</a:t>
            </a:r>
          </a:p>
        </p:txBody>
      </p:sp>
      <p:sp>
        <p:nvSpPr>
          <p:cNvPr name="TextBox 18" id="18"/>
          <p:cNvSpPr txBox="true"/>
          <p:nvPr/>
        </p:nvSpPr>
        <p:spPr>
          <a:xfrm rot="0">
            <a:off x="565485" y="1645657"/>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MULTIVARIATE ANALYSIS</a:t>
            </a:r>
          </a:p>
        </p:txBody>
      </p:sp>
      <p:sp>
        <p:nvSpPr>
          <p:cNvPr name="TextBox 19" id="19"/>
          <p:cNvSpPr txBox="true"/>
          <p:nvPr/>
        </p:nvSpPr>
        <p:spPr>
          <a:xfrm rot="0">
            <a:off x="1159568" y="6425432"/>
            <a:ext cx="15743630" cy="1920344"/>
          </a:xfrm>
          <a:prstGeom prst="rect">
            <a:avLst/>
          </a:prstGeom>
        </p:spPr>
        <p:txBody>
          <a:bodyPr anchor="t" rtlCol="false" tIns="0" lIns="0" bIns="0" rIns="0">
            <a:spAutoFit/>
          </a:bodyPr>
          <a:lstStyle/>
          <a:p>
            <a:pPr algn="l" marL="598238" indent="-299119" lvl="1">
              <a:lnSpc>
                <a:spcPts val="3879"/>
              </a:lnSpc>
              <a:buFont typeface="Arial"/>
              <a:buChar char="•"/>
            </a:pPr>
            <a:r>
              <a:rPr lang="en-US" sz="2770">
                <a:solidFill>
                  <a:srgbClr val="FDFFF8"/>
                </a:solidFill>
                <a:latin typeface="Heebo"/>
                <a:ea typeface="Heebo"/>
                <a:cs typeface="Heebo"/>
                <a:sym typeface="Heebo"/>
              </a:rPr>
              <a:t>Investigate relationships among multiple numerical variables to identify significant patterns.</a:t>
            </a:r>
          </a:p>
          <a:p>
            <a:pPr algn="l" marL="598238" indent="-299119" lvl="1">
              <a:lnSpc>
                <a:spcPts val="3879"/>
              </a:lnSpc>
              <a:buFont typeface="Arial"/>
              <a:buChar char="•"/>
            </a:pPr>
            <a:r>
              <a:rPr lang="en-US" sz="2770">
                <a:solidFill>
                  <a:srgbClr val="FDFFF8"/>
                </a:solidFill>
                <a:latin typeface="Heebo"/>
                <a:ea typeface="Heebo"/>
                <a:cs typeface="Heebo"/>
                <a:sym typeface="Heebo"/>
              </a:rPr>
              <a:t> Correlation analysis helps understand if factors like Monthly Income, Years at Company, or Performance Rating are related. Strong correlations between variables might indicate interactions that influence attrition.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4925" y="1693660"/>
            <a:ext cx="9366300" cy="7411405"/>
          </a:xfrm>
          <a:custGeom>
            <a:avLst/>
            <a:gdLst/>
            <a:ahLst/>
            <a:cxnLst/>
            <a:rect r="r" b="b" t="t" l="l"/>
            <a:pathLst>
              <a:path h="7411405" w="9366300">
                <a:moveTo>
                  <a:pt x="0" y="0"/>
                </a:moveTo>
                <a:lnTo>
                  <a:pt x="9366300" y="0"/>
                </a:lnTo>
                <a:lnTo>
                  <a:pt x="9366300" y="7411404"/>
                </a:lnTo>
                <a:lnTo>
                  <a:pt x="0" y="7411404"/>
                </a:lnTo>
                <a:lnTo>
                  <a:pt x="0" y="0"/>
                </a:lnTo>
                <a:close/>
              </a:path>
            </a:pathLst>
          </a:custGeom>
          <a:blipFill>
            <a:blip r:embed="rId2"/>
            <a:stretch>
              <a:fillRect l="0" t="-945" r="0" b="-945"/>
            </a:stretch>
          </a:blipFill>
        </p:spPr>
      </p:sp>
      <p:sp>
        <p:nvSpPr>
          <p:cNvPr name="TextBox 3" id="3"/>
          <p:cNvSpPr txBox="true"/>
          <p:nvPr/>
        </p:nvSpPr>
        <p:spPr>
          <a:xfrm rot="0">
            <a:off x="6168316" y="390525"/>
            <a:ext cx="6750358" cy="638175"/>
          </a:xfrm>
          <a:prstGeom prst="rect">
            <a:avLst/>
          </a:prstGeom>
        </p:spPr>
        <p:txBody>
          <a:bodyPr anchor="t" rtlCol="false" tIns="0" lIns="0" bIns="0" rIns="0">
            <a:spAutoFit/>
          </a:bodyPr>
          <a:lstStyle/>
          <a:p>
            <a:pPr algn="l">
              <a:lnSpc>
                <a:spcPts val="5159"/>
              </a:lnSpc>
            </a:pPr>
            <a:r>
              <a:rPr lang="en-US" sz="4299" b="true">
                <a:solidFill>
                  <a:srgbClr val="000000"/>
                </a:solidFill>
                <a:latin typeface="Heebo Medium"/>
                <a:ea typeface="Heebo Medium"/>
                <a:cs typeface="Heebo Medium"/>
                <a:sym typeface="Heebo Medium"/>
              </a:rPr>
              <a:t>MULTIVARIATE ANALYSIS</a:t>
            </a:r>
          </a:p>
        </p:txBody>
      </p:sp>
      <p:sp>
        <p:nvSpPr>
          <p:cNvPr name="TextBox 4" id="4"/>
          <p:cNvSpPr txBox="true"/>
          <p:nvPr/>
        </p:nvSpPr>
        <p:spPr>
          <a:xfrm rot="0">
            <a:off x="10190768" y="2859059"/>
            <a:ext cx="7869933" cy="4349219"/>
          </a:xfrm>
          <a:prstGeom prst="rect">
            <a:avLst/>
          </a:prstGeom>
        </p:spPr>
        <p:txBody>
          <a:bodyPr anchor="t" rtlCol="false" tIns="0" lIns="0" bIns="0" rIns="0">
            <a:spAutoFit/>
          </a:bodyPr>
          <a:lstStyle/>
          <a:p>
            <a:pPr algn="l">
              <a:lnSpc>
                <a:spcPts val="3879"/>
              </a:lnSpc>
            </a:pPr>
            <a:r>
              <a:rPr lang="en-US" sz="2770">
                <a:solidFill>
                  <a:srgbClr val="2D3E96"/>
                </a:solidFill>
                <a:latin typeface="Heebo"/>
                <a:ea typeface="Heebo"/>
                <a:cs typeface="Heebo"/>
                <a:sym typeface="Heebo"/>
              </a:rPr>
              <a:t>Age vs. Years at Company: A moderate positive correlation suggests that older employees typically have longer tenure at the company. </a:t>
            </a:r>
          </a:p>
          <a:p>
            <a:pPr algn="l">
              <a:lnSpc>
                <a:spcPts val="3879"/>
              </a:lnSpc>
            </a:pPr>
          </a:p>
          <a:p>
            <a:pPr algn="l">
              <a:lnSpc>
                <a:spcPts val="3879"/>
              </a:lnSpc>
            </a:pPr>
            <a:r>
              <a:rPr lang="en-US" sz="2770">
                <a:solidFill>
                  <a:srgbClr val="2D3E96"/>
                </a:solidFill>
                <a:latin typeface="Heebo"/>
                <a:ea typeface="Heebo"/>
                <a:cs typeface="Heebo"/>
                <a:sym typeface="Heebo"/>
              </a:rPr>
              <a:t>• Age vs. Company Tenure &amp; Years at Company vs. Company Tenure: These variables show slight correlations, indicating that while they are related, factors such as job changes prevent a perfect correlation.</a:t>
            </a:r>
          </a:p>
        </p:txBody>
      </p:sp>
      <p:sp>
        <p:nvSpPr>
          <p:cNvPr name="TextBox 5" id="5"/>
          <p:cNvSpPr txBox="true"/>
          <p:nvPr/>
        </p:nvSpPr>
        <p:spPr>
          <a:xfrm rot="0">
            <a:off x="10750556" y="1874799"/>
            <a:ext cx="6750358" cy="638175"/>
          </a:xfrm>
          <a:prstGeom prst="rect">
            <a:avLst/>
          </a:prstGeom>
        </p:spPr>
        <p:txBody>
          <a:bodyPr anchor="t" rtlCol="false" tIns="0" lIns="0" bIns="0" rIns="0">
            <a:spAutoFit/>
          </a:bodyPr>
          <a:lstStyle/>
          <a:p>
            <a:pPr algn="l">
              <a:lnSpc>
                <a:spcPts val="5159"/>
              </a:lnSpc>
            </a:pPr>
            <a:r>
              <a:rPr lang="en-US" sz="4299" b="true">
                <a:solidFill>
                  <a:srgbClr val="2D3E96"/>
                </a:solidFill>
                <a:latin typeface="Heebo Medium"/>
                <a:ea typeface="Heebo Medium"/>
                <a:cs typeface="Heebo Medium"/>
                <a:sym typeface="Heebo Medium"/>
              </a:rPr>
              <a:t>INSIGHTS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Freeform 16" id="16"/>
          <p:cNvSpPr/>
          <p:nvPr/>
        </p:nvSpPr>
        <p:spPr>
          <a:xfrm flipH="false" flipV="false" rot="0">
            <a:off x="1201125" y="4065270"/>
            <a:ext cx="15806393" cy="1896767"/>
          </a:xfrm>
          <a:custGeom>
            <a:avLst/>
            <a:gdLst/>
            <a:ahLst/>
            <a:cxnLst/>
            <a:rect r="r" b="b" t="t" l="l"/>
            <a:pathLst>
              <a:path h="1896767" w="15806393">
                <a:moveTo>
                  <a:pt x="0" y="0"/>
                </a:moveTo>
                <a:lnTo>
                  <a:pt x="15806393" y="0"/>
                </a:lnTo>
                <a:lnTo>
                  <a:pt x="15806393" y="1896767"/>
                </a:lnTo>
                <a:lnTo>
                  <a:pt x="0" y="1896767"/>
                </a:lnTo>
                <a:lnTo>
                  <a:pt x="0" y="0"/>
                </a:lnTo>
                <a:close/>
              </a:path>
            </a:pathLst>
          </a:custGeom>
          <a:blipFill>
            <a:blip r:embed="rId2"/>
            <a:stretch>
              <a:fillRect l="0" t="0" r="0" b="0"/>
            </a:stretch>
          </a:blipFill>
        </p:spPr>
      </p:sp>
      <p:sp>
        <p:nvSpPr>
          <p:cNvPr name="Freeform 17" id="17"/>
          <p:cNvSpPr/>
          <p:nvPr/>
        </p:nvSpPr>
        <p:spPr>
          <a:xfrm flipH="false" flipV="false" rot="0">
            <a:off x="1201125" y="6236621"/>
            <a:ext cx="15885750" cy="3554437"/>
          </a:xfrm>
          <a:custGeom>
            <a:avLst/>
            <a:gdLst/>
            <a:ahLst/>
            <a:cxnLst/>
            <a:rect r="r" b="b" t="t" l="l"/>
            <a:pathLst>
              <a:path h="3554437" w="15885750">
                <a:moveTo>
                  <a:pt x="0" y="0"/>
                </a:moveTo>
                <a:lnTo>
                  <a:pt x="15885750" y="0"/>
                </a:lnTo>
                <a:lnTo>
                  <a:pt x="15885750" y="3554437"/>
                </a:lnTo>
                <a:lnTo>
                  <a:pt x="0" y="3554437"/>
                </a:lnTo>
                <a:lnTo>
                  <a:pt x="0" y="0"/>
                </a:lnTo>
                <a:close/>
              </a:path>
            </a:pathLst>
          </a:custGeom>
          <a:blipFill>
            <a:blip r:embed="rId3"/>
            <a:stretch>
              <a:fillRect l="0" t="0" r="0" b="0"/>
            </a:stretch>
          </a:blipFill>
        </p:spPr>
      </p:sp>
      <p:sp>
        <p:nvSpPr>
          <p:cNvPr name="TextBox 18" id="18"/>
          <p:cNvSpPr txBox="true"/>
          <p:nvPr/>
        </p:nvSpPr>
        <p:spPr>
          <a:xfrm rot="0">
            <a:off x="565485" y="606821"/>
            <a:ext cx="11843921"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DATA TRANSFORMATION</a:t>
            </a:r>
          </a:p>
        </p:txBody>
      </p:sp>
      <p:sp>
        <p:nvSpPr>
          <p:cNvPr name="TextBox 19" id="19"/>
          <p:cNvSpPr txBox="true"/>
          <p:nvPr/>
        </p:nvSpPr>
        <p:spPr>
          <a:xfrm rot="0">
            <a:off x="1201125" y="2736984"/>
            <a:ext cx="15806393" cy="922759"/>
          </a:xfrm>
          <a:prstGeom prst="rect">
            <a:avLst/>
          </a:prstGeom>
        </p:spPr>
        <p:txBody>
          <a:bodyPr anchor="t" rtlCol="false" tIns="0" lIns="0" bIns="0" rIns="0">
            <a:spAutoFit/>
          </a:bodyPr>
          <a:lstStyle/>
          <a:p>
            <a:pPr algn="l">
              <a:lnSpc>
                <a:spcPts val="3739"/>
              </a:lnSpc>
              <a:spcBef>
                <a:spcPct val="0"/>
              </a:spcBef>
            </a:pPr>
            <a:r>
              <a:rPr lang="en-US" sz="2670">
                <a:solidFill>
                  <a:srgbClr val="FCFCFC"/>
                </a:solidFill>
                <a:latin typeface="Heebo"/>
                <a:ea typeface="Heebo"/>
                <a:cs typeface="Heebo"/>
                <a:sym typeface="Heebo"/>
              </a:rPr>
              <a:t>Creating new features or variables based on existing ones, such as aggregating, combining, or extracting meaningful information from raw data.</a:t>
            </a:r>
          </a:p>
        </p:txBody>
      </p:sp>
      <p:sp>
        <p:nvSpPr>
          <p:cNvPr name="TextBox 20" id="20"/>
          <p:cNvSpPr txBox="true"/>
          <p:nvPr/>
        </p:nvSpPr>
        <p:spPr>
          <a:xfrm rot="0">
            <a:off x="565485" y="1693282"/>
            <a:ext cx="11843921" cy="695325"/>
          </a:xfrm>
          <a:prstGeom prst="rect">
            <a:avLst/>
          </a:prstGeom>
        </p:spPr>
        <p:txBody>
          <a:bodyPr anchor="t" rtlCol="false" tIns="0" lIns="0" bIns="0" rIns="0">
            <a:spAutoFit/>
          </a:bodyPr>
          <a:lstStyle/>
          <a:p>
            <a:pPr algn="l">
              <a:lnSpc>
                <a:spcPts val="5519"/>
              </a:lnSpc>
            </a:pPr>
            <a:r>
              <a:rPr lang="en-US" sz="4599" b="true">
                <a:solidFill>
                  <a:srgbClr val="FDFFF8"/>
                </a:solidFill>
                <a:latin typeface="Heebo Medium"/>
                <a:ea typeface="Heebo Medium"/>
                <a:cs typeface="Heebo Medium"/>
                <a:sym typeface="Heebo Medium"/>
              </a:rPr>
              <a:t>FEATURE ENGINEERING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2825925" y="2252761"/>
            <a:ext cx="12736023" cy="7313172"/>
          </a:xfrm>
          <a:custGeom>
            <a:avLst/>
            <a:gdLst/>
            <a:ahLst/>
            <a:cxnLst/>
            <a:rect r="r" b="b" t="t" l="l"/>
            <a:pathLst>
              <a:path h="7313172" w="12736023">
                <a:moveTo>
                  <a:pt x="0" y="0"/>
                </a:moveTo>
                <a:lnTo>
                  <a:pt x="12736024" y="0"/>
                </a:lnTo>
                <a:lnTo>
                  <a:pt x="12736024" y="7313171"/>
                </a:lnTo>
                <a:lnTo>
                  <a:pt x="0" y="7313171"/>
                </a:lnTo>
                <a:lnTo>
                  <a:pt x="0" y="0"/>
                </a:lnTo>
                <a:close/>
              </a:path>
            </a:pathLst>
          </a:custGeom>
          <a:blipFill>
            <a:blip r:embed="rId2"/>
            <a:stretch>
              <a:fillRect l="0" t="-395" r="0" b="-395"/>
            </a:stretch>
          </a:blipFill>
        </p:spPr>
      </p:sp>
      <p:sp>
        <p:nvSpPr>
          <p:cNvPr name="TextBox 17" id="17"/>
          <p:cNvSpPr txBox="true"/>
          <p:nvPr/>
        </p:nvSpPr>
        <p:spPr>
          <a:xfrm rot="0">
            <a:off x="802468" y="634781"/>
            <a:ext cx="14980757" cy="1617980"/>
          </a:xfrm>
          <a:prstGeom prst="rect">
            <a:avLst/>
          </a:prstGeom>
        </p:spPr>
        <p:txBody>
          <a:bodyPr anchor="t" rtlCol="false" tIns="0" lIns="0" bIns="0" rIns="0">
            <a:spAutoFit/>
          </a:bodyPr>
          <a:lstStyle/>
          <a:p>
            <a:pPr algn="just">
              <a:lnSpc>
                <a:spcPts val="4839"/>
              </a:lnSpc>
            </a:pPr>
            <a:r>
              <a:rPr lang="en-US" b="true" sz="4399" spc="-43">
                <a:solidFill>
                  <a:srgbClr val="2D3E96"/>
                </a:solidFill>
                <a:latin typeface="Heebo Heavy"/>
                <a:ea typeface="Heebo Heavy"/>
                <a:cs typeface="Heebo Heavy"/>
                <a:sym typeface="Heebo Heavy"/>
              </a:rPr>
              <a:t>CHECKING SIGNIFICANT COLUMNS BASED ON P-VALUES (CHI SQUARE TEST)</a:t>
            </a:r>
          </a:p>
          <a:p>
            <a:pPr algn="just">
              <a:lnSpc>
                <a:spcPts val="3190"/>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565485" y="606821"/>
            <a:ext cx="13475193"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INSIGHTS AND SIGNIFICANT FEATURES</a:t>
            </a:r>
          </a:p>
        </p:txBody>
      </p:sp>
      <p:sp>
        <p:nvSpPr>
          <p:cNvPr name="TextBox 17" id="17"/>
          <p:cNvSpPr txBox="true"/>
          <p:nvPr/>
        </p:nvSpPr>
        <p:spPr>
          <a:xfrm rot="0">
            <a:off x="565485" y="1955220"/>
            <a:ext cx="16596699" cy="7314035"/>
          </a:xfrm>
          <a:prstGeom prst="rect">
            <a:avLst/>
          </a:prstGeom>
        </p:spPr>
        <p:txBody>
          <a:bodyPr anchor="t" rtlCol="false" tIns="0" lIns="0" bIns="0" rIns="0">
            <a:spAutoFit/>
          </a:bodyPr>
          <a:lstStyle/>
          <a:p>
            <a:pPr algn="just" marL="900491" indent="-450245" lvl="1">
              <a:lnSpc>
                <a:spcPts val="5839"/>
              </a:lnSpc>
              <a:buFont typeface="Arial"/>
              <a:buChar char="•"/>
            </a:pPr>
            <a:r>
              <a:rPr lang="en-US" b="true" sz="4170">
                <a:solidFill>
                  <a:srgbClr val="FFCE00"/>
                </a:solidFill>
                <a:latin typeface="Heebo Bold"/>
                <a:ea typeface="Heebo Bold"/>
                <a:cs typeface="Heebo Bold"/>
                <a:sym typeface="Heebo Bold"/>
              </a:rPr>
              <a:t>Gender, Work-Life Balance, Job Satisfaction, Performance Rating, Overtime, Education Level, Marital Status, Remote Work, Company Reputation</a:t>
            </a:r>
            <a:r>
              <a:rPr lang="en-US" sz="4170">
                <a:solidFill>
                  <a:srgbClr val="FDFFF8"/>
                </a:solidFill>
                <a:latin typeface="Heebo"/>
                <a:ea typeface="Heebo"/>
                <a:cs typeface="Heebo"/>
                <a:sym typeface="Heebo"/>
              </a:rPr>
              <a:t>: </a:t>
            </a:r>
            <a:r>
              <a:rPr lang="en-US" sz="4170">
                <a:solidFill>
                  <a:srgbClr val="FDFFF8"/>
                </a:solidFill>
                <a:latin typeface="Heebo"/>
                <a:ea typeface="Heebo"/>
                <a:cs typeface="Heebo"/>
                <a:sym typeface="Heebo"/>
              </a:rPr>
              <a:t>These columns demonstrate significant relationships with attrition, indicating they are crucial predictors.</a:t>
            </a:r>
          </a:p>
          <a:p>
            <a:pPr algn="just">
              <a:lnSpc>
                <a:spcPts val="5839"/>
              </a:lnSpc>
            </a:pPr>
          </a:p>
          <a:p>
            <a:pPr algn="just" marL="900491" indent="-450245" lvl="1">
              <a:lnSpc>
                <a:spcPts val="5839"/>
              </a:lnSpc>
              <a:buFont typeface="Arial"/>
              <a:buChar char="•"/>
            </a:pPr>
            <a:r>
              <a:rPr lang="en-US" b="true" sz="4170">
                <a:solidFill>
                  <a:srgbClr val="FFCE00"/>
                </a:solidFill>
                <a:latin typeface="Heebo Bold"/>
                <a:ea typeface="Heebo Bold"/>
                <a:cs typeface="Heebo Bold"/>
                <a:sym typeface="Heebo Bold"/>
              </a:rPr>
              <a:t>Leadership Opportunities, Innovation Opportunities, Employee Recognition</a:t>
            </a:r>
            <a:r>
              <a:rPr lang="en-US" sz="4170">
                <a:solidFill>
                  <a:srgbClr val="FDFFF8"/>
                </a:solidFill>
                <a:latin typeface="Heebo"/>
                <a:ea typeface="Heebo"/>
                <a:cs typeface="Heebo"/>
                <a:sym typeface="Heebo"/>
              </a:rPr>
              <a:t>: These columns do not show strong significance in relation to attrition. Leadership and innovation opportunities, while somewhat relevant, may not be prioritized by employees when deciding to leave.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430575" y="2030765"/>
            <a:ext cx="11301259" cy="4760655"/>
          </a:xfrm>
          <a:custGeom>
            <a:avLst/>
            <a:gdLst/>
            <a:ahLst/>
            <a:cxnLst/>
            <a:rect r="r" b="b" t="t" l="l"/>
            <a:pathLst>
              <a:path h="4760655" w="11301259">
                <a:moveTo>
                  <a:pt x="0" y="0"/>
                </a:moveTo>
                <a:lnTo>
                  <a:pt x="11301259" y="0"/>
                </a:lnTo>
                <a:lnTo>
                  <a:pt x="11301259" y="4760655"/>
                </a:lnTo>
                <a:lnTo>
                  <a:pt x="0" y="4760655"/>
                </a:lnTo>
                <a:lnTo>
                  <a:pt x="0" y="0"/>
                </a:lnTo>
                <a:close/>
              </a:path>
            </a:pathLst>
          </a:custGeom>
          <a:blipFill>
            <a:blip r:embed="rId2"/>
            <a:stretch>
              <a:fillRect l="0" t="0" r="0" b="0"/>
            </a:stretch>
          </a:blipFill>
        </p:spPr>
      </p:sp>
      <p:sp>
        <p:nvSpPr>
          <p:cNvPr name="TextBox 17" id="17"/>
          <p:cNvSpPr txBox="true"/>
          <p:nvPr/>
        </p:nvSpPr>
        <p:spPr>
          <a:xfrm rot="0">
            <a:off x="802468" y="634781"/>
            <a:ext cx="14980757" cy="1617980"/>
          </a:xfrm>
          <a:prstGeom prst="rect">
            <a:avLst/>
          </a:prstGeom>
        </p:spPr>
        <p:txBody>
          <a:bodyPr anchor="t" rtlCol="false" tIns="0" lIns="0" bIns="0" rIns="0">
            <a:spAutoFit/>
          </a:bodyPr>
          <a:lstStyle/>
          <a:p>
            <a:pPr algn="just">
              <a:lnSpc>
                <a:spcPts val="4839"/>
              </a:lnSpc>
            </a:pPr>
            <a:r>
              <a:rPr lang="en-US" b="true" sz="4399" spc="-43">
                <a:solidFill>
                  <a:srgbClr val="2D3E96"/>
                </a:solidFill>
                <a:latin typeface="Heebo Heavy"/>
                <a:ea typeface="Heebo Heavy"/>
                <a:cs typeface="Heebo Heavy"/>
                <a:sym typeface="Heebo Heavy"/>
              </a:rPr>
              <a:t>LOGISTIC REGRESSION MODEL'S P-VALUES FOR NUMERICAL VARIABLES:</a:t>
            </a:r>
          </a:p>
          <a:p>
            <a:pPr algn="just">
              <a:lnSpc>
                <a:spcPts val="3190"/>
              </a:lnSpc>
            </a:pPr>
          </a:p>
        </p:txBody>
      </p:sp>
      <p:sp>
        <p:nvSpPr>
          <p:cNvPr name="Freeform 18" id="18"/>
          <p:cNvSpPr/>
          <p:nvPr/>
        </p:nvSpPr>
        <p:spPr>
          <a:xfrm flipH="false" flipV="false" rot="0">
            <a:off x="582975" y="2183165"/>
            <a:ext cx="11301259" cy="4760655"/>
          </a:xfrm>
          <a:custGeom>
            <a:avLst/>
            <a:gdLst/>
            <a:ahLst/>
            <a:cxnLst/>
            <a:rect r="r" b="b" t="t" l="l"/>
            <a:pathLst>
              <a:path h="4760655" w="11301259">
                <a:moveTo>
                  <a:pt x="0" y="0"/>
                </a:moveTo>
                <a:lnTo>
                  <a:pt x="11301259" y="0"/>
                </a:lnTo>
                <a:lnTo>
                  <a:pt x="11301259" y="4760655"/>
                </a:lnTo>
                <a:lnTo>
                  <a:pt x="0" y="4760655"/>
                </a:lnTo>
                <a:lnTo>
                  <a:pt x="0" y="0"/>
                </a:lnTo>
                <a:close/>
              </a:path>
            </a:pathLst>
          </a:custGeom>
          <a:blipFill>
            <a:blip r:embed="rId2"/>
            <a:stretch>
              <a:fillRect l="0" t="0" r="0" b="0"/>
            </a:stretch>
          </a:blipFill>
        </p:spPr>
      </p:sp>
      <p:sp>
        <p:nvSpPr>
          <p:cNvPr name="Freeform 19" id="19"/>
          <p:cNvSpPr/>
          <p:nvPr/>
        </p:nvSpPr>
        <p:spPr>
          <a:xfrm flipH="false" flipV="false" rot="0">
            <a:off x="14464330" y="4255967"/>
            <a:ext cx="2794970" cy="5468419"/>
          </a:xfrm>
          <a:custGeom>
            <a:avLst/>
            <a:gdLst/>
            <a:ahLst/>
            <a:cxnLst/>
            <a:rect r="r" b="b" t="t" l="l"/>
            <a:pathLst>
              <a:path h="5468419" w="2794970">
                <a:moveTo>
                  <a:pt x="0" y="0"/>
                </a:moveTo>
                <a:lnTo>
                  <a:pt x="2794970" y="0"/>
                </a:lnTo>
                <a:lnTo>
                  <a:pt x="2794970" y="5468419"/>
                </a:lnTo>
                <a:lnTo>
                  <a:pt x="0" y="5468419"/>
                </a:lnTo>
                <a:lnTo>
                  <a:pt x="0" y="0"/>
                </a:lnTo>
                <a:close/>
              </a:path>
            </a:pathLst>
          </a:custGeom>
          <a:blipFill>
            <a:blip r:embed="rId3"/>
            <a:stretch>
              <a:fillRect l="0" t="0" r="0" b="0"/>
            </a:stretch>
          </a:blipFill>
        </p:spPr>
      </p:sp>
      <p:sp>
        <p:nvSpPr>
          <p:cNvPr name="Freeform 20" id="20"/>
          <p:cNvSpPr/>
          <p:nvPr/>
        </p:nvSpPr>
        <p:spPr>
          <a:xfrm flipH="false" flipV="false" rot="0">
            <a:off x="10291426" y="4563492"/>
            <a:ext cx="4172904" cy="5250904"/>
          </a:xfrm>
          <a:custGeom>
            <a:avLst/>
            <a:gdLst/>
            <a:ahLst/>
            <a:cxnLst/>
            <a:rect r="r" b="b" t="t" l="l"/>
            <a:pathLst>
              <a:path h="5250904" w="4172904">
                <a:moveTo>
                  <a:pt x="0" y="0"/>
                </a:moveTo>
                <a:lnTo>
                  <a:pt x="4172904" y="0"/>
                </a:lnTo>
                <a:lnTo>
                  <a:pt x="4172904" y="5250904"/>
                </a:lnTo>
                <a:lnTo>
                  <a:pt x="0" y="5250904"/>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565485" y="606821"/>
            <a:ext cx="13475193"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INSIGHTS AND SIGNIFICANT FEATURES</a:t>
            </a:r>
          </a:p>
        </p:txBody>
      </p:sp>
      <p:sp>
        <p:nvSpPr>
          <p:cNvPr name="TextBox 17" id="17"/>
          <p:cNvSpPr txBox="true"/>
          <p:nvPr/>
        </p:nvSpPr>
        <p:spPr>
          <a:xfrm rot="0">
            <a:off x="807197" y="1974270"/>
            <a:ext cx="16354986" cy="6994654"/>
          </a:xfrm>
          <a:prstGeom prst="rect">
            <a:avLst/>
          </a:prstGeom>
        </p:spPr>
        <p:txBody>
          <a:bodyPr anchor="t" rtlCol="false" tIns="0" lIns="0" bIns="0" rIns="0">
            <a:spAutoFit/>
          </a:bodyPr>
          <a:lstStyle/>
          <a:p>
            <a:pPr algn="just">
              <a:lnSpc>
                <a:spcPts val="5067"/>
              </a:lnSpc>
            </a:pPr>
            <a:r>
              <a:rPr lang="en-US" b="true" sz="3619">
                <a:solidFill>
                  <a:srgbClr val="FDFFF8"/>
                </a:solidFill>
                <a:latin typeface="Heebo Bold"/>
                <a:ea typeface="Heebo Bold"/>
                <a:cs typeface="Heebo Bold"/>
                <a:sym typeface="Heebo Bold"/>
              </a:rPr>
              <a:t>Significant Factors:</a:t>
            </a:r>
          </a:p>
          <a:p>
            <a:pPr algn="just" marL="781539" indent="-390770" lvl="1">
              <a:lnSpc>
                <a:spcPts val="5067"/>
              </a:lnSpc>
              <a:buFont typeface="Arial"/>
              <a:buChar char="•"/>
            </a:pPr>
            <a:r>
              <a:rPr lang="en-US" sz="3619">
                <a:solidFill>
                  <a:srgbClr val="FDFFF8"/>
                </a:solidFill>
                <a:latin typeface="Heebo"/>
                <a:ea typeface="Heebo"/>
                <a:cs typeface="Heebo"/>
                <a:sym typeface="Heebo"/>
              </a:rPr>
              <a:t>Years at Company: Longer tenure reduces the likelihood of leaving.</a:t>
            </a:r>
          </a:p>
          <a:p>
            <a:pPr algn="just" marL="781539" indent="-390770" lvl="1">
              <a:lnSpc>
                <a:spcPts val="5067"/>
              </a:lnSpc>
              <a:buFont typeface="Arial"/>
              <a:buChar char="•"/>
            </a:pPr>
            <a:r>
              <a:rPr lang="en-US" sz="3619">
                <a:solidFill>
                  <a:srgbClr val="FDFFF8"/>
                </a:solidFill>
                <a:latin typeface="Heebo"/>
                <a:ea typeface="Heebo"/>
                <a:cs typeface="Heebo"/>
                <a:sym typeface="Heebo"/>
              </a:rPr>
              <a:t>Monthly Income: Higher income slightly decreases attrition.</a:t>
            </a:r>
          </a:p>
          <a:p>
            <a:pPr algn="just" marL="781539" indent="-390770" lvl="1">
              <a:lnSpc>
                <a:spcPts val="5067"/>
              </a:lnSpc>
              <a:buFont typeface="Arial"/>
              <a:buChar char="•"/>
            </a:pPr>
            <a:r>
              <a:rPr lang="en-US" sz="3619">
                <a:solidFill>
                  <a:srgbClr val="FDFFF8"/>
                </a:solidFill>
                <a:latin typeface="Heebo"/>
                <a:ea typeface="Heebo"/>
                <a:cs typeface="Heebo"/>
                <a:sym typeface="Heebo"/>
              </a:rPr>
              <a:t>Number of Promotions: More promotions strongly reduce the chance of leaving.</a:t>
            </a:r>
          </a:p>
          <a:p>
            <a:pPr algn="just" marL="781539" indent="-390770" lvl="1">
              <a:lnSpc>
                <a:spcPts val="5067"/>
              </a:lnSpc>
              <a:buFont typeface="Arial"/>
              <a:buChar char="•"/>
            </a:pPr>
            <a:r>
              <a:rPr lang="en-US" sz="3619">
                <a:solidFill>
                  <a:srgbClr val="FDFFF8"/>
                </a:solidFill>
                <a:latin typeface="Heebo"/>
                <a:ea typeface="Heebo"/>
                <a:cs typeface="Heebo"/>
                <a:sym typeface="Heebo"/>
              </a:rPr>
              <a:t>Distance from Home: Longer commutes increase the likelihood of leaving.</a:t>
            </a:r>
          </a:p>
          <a:p>
            <a:pPr algn="just" marL="781539" indent="-390770" lvl="1">
              <a:lnSpc>
                <a:spcPts val="5067"/>
              </a:lnSpc>
              <a:buFont typeface="Arial"/>
              <a:buChar char="•"/>
            </a:pPr>
            <a:r>
              <a:rPr lang="en-US" sz="3619">
                <a:solidFill>
                  <a:srgbClr val="FDFFF8"/>
                </a:solidFill>
                <a:latin typeface="Heebo"/>
                <a:ea typeface="Heebo"/>
                <a:cs typeface="Heebo"/>
                <a:sym typeface="Heebo"/>
              </a:rPr>
              <a:t>Number of Dependents: More dependents are linked to a greater likelihood of staying.</a:t>
            </a:r>
          </a:p>
          <a:p>
            <a:pPr algn="just">
              <a:lnSpc>
                <a:spcPts val="5067"/>
              </a:lnSpc>
            </a:pPr>
          </a:p>
          <a:p>
            <a:pPr algn="just">
              <a:lnSpc>
                <a:spcPts val="5067"/>
              </a:lnSpc>
            </a:pPr>
            <a:r>
              <a:rPr lang="en-US" b="true" sz="3619">
                <a:solidFill>
                  <a:srgbClr val="FDFFF8"/>
                </a:solidFill>
                <a:latin typeface="Heebo Bold"/>
                <a:ea typeface="Heebo Bold"/>
                <a:cs typeface="Heebo Bold"/>
                <a:sym typeface="Heebo Bold"/>
              </a:rPr>
              <a:t>Not Significant Factors:</a:t>
            </a:r>
          </a:p>
          <a:p>
            <a:pPr algn="just" marL="781539" indent="-390770" lvl="1">
              <a:lnSpc>
                <a:spcPts val="5067"/>
              </a:lnSpc>
              <a:buFont typeface="Arial"/>
              <a:buChar char="•"/>
            </a:pPr>
            <a:r>
              <a:rPr lang="en-US" sz="3619">
                <a:solidFill>
                  <a:srgbClr val="FDFFF8"/>
                </a:solidFill>
                <a:latin typeface="Heebo"/>
                <a:ea typeface="Heebo"/>
                <a:cs typeface="Heebo"/>
                <a:sym typeface="Heebo"/>
              </a:rPr>
              <a:t>Age and Company Tenure: These factors don’t significantly affect attrition.</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665358" y="292849"/>
            <a:ext cx="8115300" cy="971550"/>
          </a:xfrm>
          <a:prstGeom prst="rect">
            <a:avLst/>
          </a:prstGeom>
        </p:spPr>
        <p:txBody>
          <a:bodyPr anchor="t" rtlCol="false" tIns="0" lIns="0" bIns="0" rIns="0">
            <a:spAutoFit/>
          </a:bodyPr>
          <a:lstStyle/>
          <a:p>
            <a:pPr algn="l">
              <a:lnSpc>
                <a:spcPts val="7799"/>
              </a:lnSpc>
            </a:pPr>
            <a:r>
              <a:rPr lang="en-US" sz="6499" b="true">
                <a:solidFill>
                  <a:srgbClr val="FDFFF8"/>
                </a:solidFill>
                <a:latin typeface="Heebo Medium"/>
                <a:ea typeface="Heebo Medium"/>
                <a:cs typeface="Heebo Medium"/>
                <a:sym typeface="Heebo Medium"/>
              </a:rPr>
              <a:t>DATA CLEANING</a:t>
            </a:r>
          </a:p>
        </p:txBody>
      </p:sp>
      <p:sp>
        <p:nvSpPr>
          <p:cNvPr name="TextBox 17" id="17"/>
          <p:cNvSpPr txBox="true"/>
          <p:nvPr/>
        </p:nvSpPr>
        <p:spPr>
          <a:xfrm rot="0">
            <a:off x="665358" y="1370929"/>
            <a:ext cx="8115300"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ENCODING</a:t>
            </a:r>
          </a:p>
        </p:txBody>
      </p:sp>
      <p:sp>
        <p:nvSpPr>
          <p:cNvPr name="TextBox 18" id="18"/>
          <p:cNvSpPr txBox="true"/>
          <p:nvPr/>
        </p:nvSpPr>
        <p:spPr>
          <a:xfrm rot="0">
            <a:off x="665358" y="2404993"/>
            <a:ext cx="17410160" cy="10824184"/>
          </a:xfrm>
          <a:prstGeom prst="rect">
            <a:avLst/>
          </a:prstGeom>
        </p:spPr>
        <p:txBody>
          <a:bodyPr anchor="t" rtlCol="false" tIns="0" lIns="0" bIns="0" rIns="0">
            <a:spAutoFit/>
          </a:bodyPr>
          <a:lstStyle/>
          <a:p>
            <a:pPr algn="l" marL="777465" indent="-388733" lvl="1">
              <a:lnSpc>
                <a:spcPts val="5041"/>
              </a:lnSpc>
              <a:spcBef>
                <a:spcPct val="0"/>
              </a:spcBef>
              <a:buFont typeface="Arial"/>
              <a:buChar char="•"/>
            </a:pPr>
            <a:r>
              <a:rPr lang="en-US" b="true" sz="3601">
                <a:solidFill>
                  <a:srgbClr val="FDFFF8"/>
                </a:solidFill>
                <a:latin typeface="Heebo Bold"/>
                <a:ea typeface="Heebo Bold"/>
                <a:cs typeface="Heebo Bold"/>
                <a:sym typeface="Heebo Bold"/>
              </a:rPr>
              <a:t>Binary Encoding: E</a:t>
            </a:r>
            <a:r>
              <a:rPr lang="en-US" sz="3601">
                <a:solidFill>
                  <a:srgbClr val="FDFFF8"/>
                </a:solidFill>
                <a:latin typeface="Heebo"/>
                <a:ea typeface="Heebo"/>
                <a:cs typeface="Heebo"/>
                <a:sym typeface="Heebo"/>
              </a:rPr>
              <a:t>ncodes binary categorical variables.</a:t>
            </a:r>
          </a:p>
          <a:p>
            <a:pPr algn="l">
              <a:lnSpc>
                <a:spcPts val="5041"/>
              </a:lnSpc>
              <a:spcBef>
                <a:spcPct val="0"/>
              </a:spcBef>
            </a:pPr>
            <a:r>
              <a:rPr lang="en-US" sz="3601">
                <a:solidFill>
                  <a:srgbClr val="FDFFF8"/>
                </a:solidFill>
                <a:latin typeface="Heebo"/>
                <a:ea typeface="Heebo"/>
                <a:cs typeface="Heebo"/>
                <a:sym typeface="Heebo"/>
              </a:rPr>
              <a:t>       Binary Columns: Columns that have only two possible values, such as "Yes" or         "No",     "Stayed" or "Left".</a:t>
            </a:r>
          </a:p>
          <a:p>
            <a:pPr algn="l">
              <a:lnSpc>
                <a:spcPts val="5041"/>
              </a:lnSpc>
              <a:spcBef>
                <a:spcPct val="0"/>
              </a:spcBef>
            </a:pPr>
          </a:p>
          <a:p>
            <a:pPr algn="l" marL="777465" indent="-388733" lvl="1">
              <a:lnSpc>
                <a:spcPts val="5041"/>
              </a:lnSpc>
              <a:spcBef>
                <a:spcPct val="0"/>
              </a:spcBef>
              <a:buFont typeface="Arial"/>
              <a:buChar char="•"/>
            </a:pPr>
            <a:r>
              <a:rPr lang="en-US" b="true" sz="3601">
                <a:solidFill>
                  <a:srgbClr val="FDFFF8"/>
                </a:solidFill>
                <a:latin typeface="Heebo Bold"/>
                <a:ea typeface="Heebo Bold"/>
                <a:cs typeface="Heebo Bold"/>
                <a:sym typeface="Heebo Bold"/>
              </a:rPr>
              <a:t>Ordinal Encoding : </a:t>
            </a:r>
            <a:r>
              <a:rPr lang="en-US" sz="3601">
                <a:solidFill>
                  <a:srgbClr val="FDFFF8"/>
                </a:solidFill>
                <a:latin typeface="Heebo"/>
                <a:ea typeface="Heebo"/>
                <a:cs typeface="Heebo"/>
                <a:sym typeface="Heebo"/>
              </a:rPr>
              <a:t>The code block maps ordinal categorical variables to numeric values.</a:t>
            </a:r>
          </a:p>
          <a:p>
            <a:pPr algn="l" marL="1554930" indent="-518310" lvl="2">
              <a:lnSpc>
                <a:spcPts val="5041"/>
              </a:lnSpc>
              <a:spcBef>
                <a:spcPct val="0"/>
              </a:spcBef>
              <a:buFont typeface="Arial"/>
              <a:buChar char="⚬"/>
            </a:pPr>
            <a:r>
              <a:rPr lang="en-US" sz="3601">
                <a:solidFill>
                  <a:srgbClr val="FDFFF8"/>
                </a:solidFill>
                <a:latin typeface="Heebo"/>
                <a:ea typeface="Heebo"/>
                <a:cs typeface="Heebo"/>
                <a:sym typeface="Heebo"/>
              </a:rPr>
              <a:t>This approach is applied to columns where there is a natural order in the values (e.g., "Poor" &lt; "Fair" &lt; "Good" &lt; "Excellent").</a:t>
            </a:r>
          </a:p>
          <a:p>
            <a:pPr algn="l">
              <a:lnSpc>
                <a:spcPts val="5041"/>
              </a:lnSpc>
              <a:spcBef>
                <a:spcPct val="0"/>
              </a:spcBef>
            </a:pPr>
          </a:p>
          <a:p>
            <a:pPr algn="l" marL="777465" indent="-388733" lvl="1">
              <a:lnSpc>
                <a:spcPts val="5041"/>
              </a:lnSpc>
              <a:spcBef>
                <a:spcPct val="0"/>
              </a:spcBef>
              <a:buFont typeface="Arial"/>
              <a:buChar char="•"/>
            </a:pPr>
            <a:r>
              <a:rPr lang="en-US" b="true" sz="3601">
                <a:solidFill>
                  <a:srgbClr val="FDFFF8"/>
                </a:solidFill>
                <a:latin typeface="Heebo Bold"/>
                <a:ea typeface="Heebo Bold"/>
                <a:cs typeface="Heebo Bold"/>
                <a:sym typeface="Heebo Bold"/>
              </a:rPr>
              <a:t>One-Hot Encoding :</a:t>
            </a:r>
            <a:r>
              <a:rPr lang="en-US" sz="3601">
                <a:solidFill>
                  <a:srgbClr val="FDFFF8"/>
                </a:solidFill>
                <a:latin typeface="Heebo"/>
                <a:ea typeface="Heebo"/>
                <a:cs typeface="Heebo"/>
                <a:sym typeface="Heebo"/>
              </a:rPr>
              <a:t> Performs one-hot encoding on nominal categorical variables.</a:t>
            </a:r>
          </a:p>
          <a:p>
            <a:pPr algn="l">
              <a:lnSpc>
                <a:spcPts val="5041"/>
              </a:lnSpc>
              <a:spcBef>
                <a:spcPct val="0"/>
              </a:spcBef>
            </a:pPr>
            <a:r>
              <a:rPr lang="en-US" sz="3601">
                <a:solidFill>
                  <a:srgbClr val="FDFFF8"/>
                </a:solidFill>
                <a:latin typeface="Heebo"/>
                <a:ea typeface="Heebo"/>
                <a:cs typeface="Heebo"/>
                <a:sym typeface="Heebo"/>
              </a:rPr>
              <a:t>     </a:t>
            </a:r>
            <a:r>
              <a:rPr lang="en-US" sz="3601">
                <a:solidFill>
                  <a:srgbClr val="FDFFF8"/>
                </a:solidFill>
                <a:latin typeface="Heebo"/>
                <a:ea typeface="Heebo"/>
                <a:cs typeface="Heebo"/>
                <a:sym typeface="Heebo"/>
              </a:rPr>
              <a:t>  Nominal Columns: Columns with categorical values that do not have a specific order, such as "Gender", "Job Role", and "Marital Status".</a:t>
            </a:r>
          </a:p>
          <a:p>
            <a:pPr algn="l">
              <a:lnSpc>
                <a:spcPts val="5041"/>
              </a:lnSpc>
            </a:pPr>
          </a:p>
          <a:p>
            <a:pPr algn="l">
              <a:lnSpc>
                <a:spcPts val="5041"/>
              </a:lnSpc>
              <a:spcBef>
                <a:spcPct val="0"/>
              </a:spcBef>
            </a:pPr>
          </a:p>
          <a:p>
            <a:pPr algn="l">
              <a:lnSpc>
                <a:spcPts val="5041"/>
              </a:lnSpc>
              <a:spcBef>
                <a:spcPct val="0"/>
              </a:spcBef>
            </a:pPr>
          </a:p>
          <a:p>
            <a:pPr algn="l">
              <a:lnSpc>
                <a:spcPts val="5041"/>
              </a:lnSpc>
              <a:spcBef>
                <a:spcPct val="0"/>
              </a:spcBef>
            </a:pPr>
          </a:p>
          <a:p>
            <a:pPr algn="l">
              <a:lnSpc>
                <a:spcPts val="5041"/>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377067" y="-1452017"/>
            <a:ext cx="4026470" cy="4961433"/>
            <a:chOff x="0" y="0"/>
            <a:chExt cx="5368626" cy="6615244"/>
          </a:xfrm>
        </p:grpSpPr>
        <p:grpSp>
          <p:nvGrpSpPr>
            <p:cNvPr name="Group 3" id="3"/>
            <p:cNvGrpSpPr/>
            <p:nvPr/>
          </p:nvGrpSpPr>
          <p:grpSpPr>
            <a:xfrm rot="-2700000">
              <a:off x="-58292" y="3281074"/>
              <a:ext cx="4914250" cy="1870674"/>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6799" lIns="56799" bIns="56799" rIns="56799"/>
              <a:lstStyle/>
              <a:p>
                <a:pPr algn="ctr">
                  <a:lnSpc>
                    <a:spcPts val="2347"/>
                  </a:lnSpc>
                </a:pPr>
              </a:p>
            </p:txBody>
          </p:sp>
        </p:grpSp>
        <p:grpSp>
          <p:nvGrpSpPr>
            <p:cNvPr name="Group 6" id="6"/>
            <p:cNvGrpSpPr/>
            <p:nvPr/>
          </p:nvGrpSpPr>
          <p:grpSpPr>
            <a:xfrm rot="-2700000">
              <a:off x="512669" y="1463496"/>
              <a:ext cx="4914250" cy="1870674"/>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6799" lIns="56799" bIns="56799" rIns="56799"/>
              <a:lstStyle/>
              <a:p>
                <a:pPr algn="ctr">
                  <a:lnSpc>
                    <a:spcPts val="2347"/>
                  </a:lnSpc>
                </a:pPr>
              </a:p>
            </p:txBody>
          </p:sp>
        </p:grpSp>
      </p:grpSp>
      <p:grpSp>
        <p:nvGrpSpPr>
          <p:cNvPr name="Group 9" id="9"/>
          <p:cNvGrpSpPr/>
          <p:nvPr/>
        </p:nvGrpSpPr>
        <p:grpSpPr>
          <a:xfrm rot="0">
            <a:off x="9039525" y="6956591"/>
            <a:ext cx="3735921" cy="4603418"/>
            <a:chOff x="0" y="0"/>
            <a:chExt cx="4981228" cy="6137890"/>
          </a:xfrm>
        </p:grpSpPr>
        <p:grpSp>
          <p:nvGrpSpPr>
            <p:cNvPr name="Group 10" id="10"/>
            <p:cNvGrpSpPr/>
            <p:nvPr/>
          </p:nvGrpSpPr>
          <p:grpSpPr>
            <a:xfrm rot="-2700000">
              <a:off x="475675" y="1357890"/>
              <a:ext cx="4559639" cy="1735687"/>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FCE00"/>
                </a:solidFill>
                <a:prstDash val="solid"/>
                <a:miter/>
              </a:ln>
            </p:spPr>
          </p:sp>
          <p:sp>
            <p:nvSpPr>
              <p:cNvPr name="TextBox 12" id="12"/>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13" id="13"/>
            <p:cNvGrpSpPr/>
            <p:nvPr/>
          </p:nvGrpSpPr>
          <p:grpSpPr>
            <a:xfrm rot="-2700000">
              <a:off x="-54086" y="3044313"/>
              <a:ext cx="4559639" cy="1735687"/>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2D3E96"/>
              </a:solidFill>
              <a:ln cap="sq">
                <a:noFill/>
                <a:prstDash val="solid"/>
                <a:miter/>
              </a:ln>
            </p:spPr>
          </p:sp>
          <p:sp>
            <p:nvSpPr>
              <p:cNvPr name="TextBox 15" id="1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16" id="16"/>
          <p:cNvGrpSpPr/>
          <p:nvPr/>
        </p:nvGrpSpPr>
        <p:grpSpPr>
          <a:xfrm rot="0">
            <a:off x="-3419262" y="-2619006"/>
            <a:ext cx="8657356" cy="10667631"/>
            <a:chOff x="0" y="0"/>
            <a:chExt cx="11543141" cy="14223507"/>
          </a:xfrm>
        </p:grpSpPr>
        <p:grpSp>
          <p:nvGrpSpPr>
            <p:cNvPr name="Group 17" id="17"/>
            <p:cNvGrpSpPr/>
            <p:nvPr/>
          </p:nvGrpSpPr>
          <p:grpSpPr>
            <a:xfrm rot="-2700000">
              <a:off x="1102294" y="3146678"/>
              <a:ext cx="10566181" cy="4022157"/>
              <a:chOff x="0" y="0"/>
              <a:chExt cx="882773" cy="336039"/>
            </a:xfrm>
          </p:grpSpPr>
          <p:sp>
            <p:nvSpPr>
              <p:cNvPr name="Freeform 18" id="18"/>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DB639C"/>
                </a:solidFill>
                <a:prstDash val="sysDot"/>
                <a:miter/>
              </a:ln>
            </p:spPr>
          </p:sp>
          <p:sp>
            <p:nvSpPr>
              <p:cNvPr name="TextBox 19" id="19"/>
              <p:cNvSpPr txBox="true"/>
              <p:nvPr/>
            </p:nvSpPr>
            <p:spPr>
              <a:xfrm>
                <a:off x="0" y="-66675"/>
                <a:ext cx="882773" cy="402714"/>
              </a:xfrm>
              <a:prstGeom prst="rect">
                <a:avLst/>
              </a:prstGeom>
            </p:spPr>
            <p:txBody>
              <a:bodyPr anchor="ctr" rtlCol="false" tIns="122125" lIns="122125" bIns="122125" rIns="122125"/>
              <a:lstStyle/>
              <a:p>
                <a:pPr algn="ctr">
                  <a:lnSpc>
                    <a:spcPts val="5048"/>
                  </a:lnSpc>
                </a:pPr>
              </a:p>
            </p:txBody>
          </p:sp>
        </p:grpSp>
        <p:grpSp>
          <p:nvGrpSpPr>
            <p:cNvPr name="Group 20" id="20"/>
            <p:cNvGrpSpPr/>
            <p:nvPr/>
          </p:nvGrpSpPr>
          <p:grpSpPr>
            <a:xfrm rot="-2700000">
              <a:off x="-125334" y="7054673"/>
              <a:ext cx="10566181" cy="4022157"/>
              <a:chOff x="0" y="0"/>
              <a:chExt cx="882773" cy="336039"/>
            </a:xfrm>
          </p:grpSpPr>
          <p:sp>
            <p:nvSpPr>
              <p:cNvPr name="Freeform 21" id="2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22" id="22"/>
              <p:cNvSpPr txBox="true"/>
              <p:nvPr/>
            </p:nvSpPr>
            <p:spPr>
              <a:xfrm>
                <a:off x="0" y="-66675"/>
                <a:ext cx="882773" cy="402714"/>
              </a:xfrm>
              <a:prstGeom prst="rect">
                <a:avLst/>
              </a:prstGeom>
            </p:spPr>
            <p:txBody>
              <a:bodyPr anchor="ctr" rtlCol="false" tIns="122125" lIns="122125" bIns="122125" rIns="122125"/>
              <a:lstStyle/>
              <a:p>
                <a:pPr algn="ctr">
                  <a:lnSpc>
                    <a:spcPts val="5048"/>
                  </a:lnSpc>
                </a:pPr>
              </a:p>
            </p:txBody>
          </p:sp>
        </p:grpSp>
      </p:grpSp>
      <p:sp>
        <p:nvSpPr>
          <p:cNvPr name="Freeform 23" id="23"/>
          <p:cNvSpPr/>
          <p:nvPr/>
        </p:nvSpPr>
        <p:spPr>
          <a:xfrm flipH="false" flipV="false" rot="0">
            <a:off x="909416" y="2714810"/>
            <a:ext cx="16349884" cy="6843379"/>
          </a:xfrm>
          <a:custGeom>
            <a:avLst/>
            <a:gdLst/>
            <a:ahLst/>
            <a:cxnLst/>
            <a:rect r="r" b="b" t="t" l="l"/>
            <a:pathLst>
              <a:path h="6843379" w="16349884">
                <a:moveTo>
                  <a:pt x="0" y="0"/>
                </a:moveTo>
                <a:lnTo>
                  <a:pt x="16349884" y="0"/>
                </a:lnTo>
                <a:lnTo>
                  <a:pt x="16349884" y="6843378"/>
                </a:lnTo>
                <a:lnTo>
                  <a:pt x="0" y="6843378"/>
                </a:lnTo>
                <a:lnTo>
                  <a:pt x="0" y="0"/>
                </a:lnTo>
                <a:close/>
              </a:path>
            </a:pathLst>
          </a:custGeom>
          <a:blipFill>
            <a:blip r:embed="rId2"/>
            <a:stretch>
              <a:fillRect l="-806" t="-9022" r="-12225" b="-347"/>
            </a:stretch>
          </a:blipFill>
        </p:spPr>
      </p:sp>
      <p:sp>
        <p:nvSpPr>
          <p:cNvPr name="TextBox 24" id="24"/>
          <p:cNvSpPr txBox="true"/>
          <p:nvPr/>
        </p:nvSpPr>
        <p:spPr>
          <a:xfrm rot="0">
            <a:off x="1028700" y="1286766"/>
            <a:ext cx="8855401" cy="927101"/>
          </a:xfrm>
          <a:prstGeom prst="rect">
            <a:avLst/>
          </a:prstGeom>
        </p:spPr>
        <p:txBody>
          <a:bodyPr anchor="t" rtlCol="false" tIns="0" lIns="0" bIns="0" rIns="0">
            <a:spAutoFit/>
          </a:bodyPr>
          <a:lstStyle/>
          <a:p>
            <a:pPr algn="l">
              <a:lnSpc>
                <a:spcPts val="7699"/>
              </a:lnSpc>
              <a:spcBef>
                <a:spcPct val="0"/>
              </a:spcBef>
            </a:pPr>
            <a:r>
              <a:rPr lang="en-US" b="true" sz="5499">
                <a:solidFill>
                  <a:srgbClr val="101010"/>
                </a:solidFill>
                <a:latin typeface="Heebo Bold"/>
                <a:ea typeface="Heebo Bold"/>
                <a:cs typeface="Heebo Bold"/>
                <a:sym typeface="Heebo Bold"/>
              </a:rPr>
              <a:t>ENCODING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154998" y="-1291154"/>
            <a:ext cx="4971840" cy="6126322"/>
            <a:chOff x="0" y="0"/>
            <a:chExt cx="6629120" cy="8168430"/>
          </a:xfrm>
        </p:grpSpPr>
        <p:grpSp>
          <p:nvGrpSpPr>
            <p:cNvPr name="Group 3" id="3"/>
            <p:cNvGrpSpPr/>
            <p:nvPr/>
          </p:nvGrpSpPr>
          <p:grpSpPr>
            <a:xfrm rot="-2700000">
              <a:off x="633038" y="1807108"/>
              <a:ext cx="6068061" cy="2309888"/>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sysDot"/>
                <a:miter/>
              </a:ln>
            </p:spPr>
          </p:sp>
          <p:sp>
            <p:nvSpPr>
              <p:cNvPr name="TextBox 5" id="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6" id="6"/>
            <p:cNvGrpSpPr/>
            <p:nvPr/>
          </p:nvGrpSpPr>
          <p:grpSpPr>
            <a:xfrm rot="-2700000">
              <a:off x="-71978" y="4051434"/>
              <a:ext cx="6068061" cy="2309888"/>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grpSp>
        <p:nvGrpSpPr>
          <p:cNvPr name="Group 9" id="9"/>
          <p:cNvGrpSpPr/>
          <p:nvPr/>
        </p:nvGrpSpPr>
        <p:grpSpPr>
          <a:xfrm rot="0">
            <a:off x="14772874" y="6915507"/>
            <a:ext cx="4294481" cy="5291678"/>
            <a:chOff x="0" y="0"/>
            <a:chExt cx="5725975" cy="7055571"/>
          </a:xfrm>
        </p:grpSpPr>
        <p:grpSp>
          <p:nvGrpSpPr>
            <p:cNvPr name="Group 10" id="10"/>
            <p:cNvGrpSpPr/>
            <p:nvPr/>
          </p:nvGrpSpPr>
          <p:grpSpPr>
            <a:xfrm rot="-2700000">
              <a:off x="546793" y="1560910"/>
              <a:ext cx="5241354" cy="1995191"/>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38100"/>
                <a:ext cx="882773" cy="374139"/>
              </a:xfrm>
              <a:prstGeom prst="rect">
                <a:avLst/>
              </a:prstGeom>
            </p:spPr>
            <p:txBody>
              <a:bodyPr anchor="ctr" rtlCol="false" tIns="60580" lIns="60580" bIns="60580" rIns="60580"/>
              <a:lstStyle/>
              <a:p>
                <a:pPr algn="ctr">
                  <a:lnSpc>
                    <a:spcPts val="2504"/>
                  </a:lnSpc>
                </a:pPr>
              </a:p>
            </p:txBody>
          </p:sp>
        </p:grpSp>
        <p:grpSp>
          <p:nvGrpSpPr>
            <p:cNvPr name="Group 13" id="13"/>
            <p:cNvGrpSpPr/>
            <p:nvPr/>
          </p:nvGrpSpPr>
          <p:grpSpPr>
            <a:xfrm rot="-2700000">
              <a:off x="-62172" y="3499471"/>
              <a:ext cx="5241354" cy="1995191"/>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60580" lIns="60580" bIns="60580" rIns="60580"/>
              <a:lstStyle/>
              <a:p>
                <a:pPr algn="ctr">
                  <a:lnSpc>
                    <a:spcPts val="2504"/>
                  </a:lnSpc>
                </a:pPr>
              </a:p>
            </p:txBody>
          </p:sp>
        </p:grpSp>
      </p:grpSp>
      <p:sp>
        <p:nvSpPr>
          <p:cNvPr name="Freeform 16" id="16"/>
          <p:cNvSpPr/>
          <p:nvPr/>
        </p:nvSpPr>
        <p:spPr>
          <a:xfrm flipH="false" flipV="false" rot="0">
            <a:off x="683943" y="2695778"/>
            <a:ext cx="16920115" cy="6614290"/>
          </a:xfrm>
          <a:custGeom>
            <a:avLst/>
            <a:gdLst/>
            <a:ahLst/>
            <a:cxnLst/>
            <a:rect r="r" b="b" t="t" l="l"/>
            <a:pathLst>
              <a:path h="6614290" w="16920115">
                <a:moveTo>
                  <a:pt x="0" y="0"/>
                </a:moveTo>
                <a:lnTo>
                  <a:pt x="16920114" y="0"/>
                </a:lnTo>
                <a:lnTo>
                  <a:pt x="16920114" y="6614290"/>
                </a:lnTo>
                <a:lnTo>
                  <a:pt x="0" y="6614290"/>
                </a:lnTo>
                <a:lnTo>
                  <a:pt x="0" y="0"/>
                </a:lnTo>
                <a:close/>
              </a:path>
            </a:pathLst>
          </a:custGeom>
          <a:blipFill>
            <a:blip r:embed="rId2"/>
            <a:stretch>
              <a:fillRect l="0" t="-386" r="-4354" b="-386"/>
            </a:stretch>
          </a:blipFill>
        </p:spPr>
      </p:sp>
      <p:sp>
        <p:nvSpPr>
          <p:cNvPr name="TextBox 17" id="17"/>
          <p:cNvSpPr txBox="true"/>
          <p:nvPr/>
        </p:nvSpPr>
        <p:spPr>
          <a:xfrm rot="0">
            <a:off x="1108454" y="1676757"/>
            <a:ext cx="5911811" cy="796136"/>
          </a:xfrm>
          <a:prstGeom prst="rect">
            <a:avLst/>
          </a:prstGeom>
        </p:spPr>
        <p:txBody>
          <a:bodyPr anchor="t" rtlCol="false" tIns="0" lIns="0" bIns="0" rIns="0">
            <a:spAutoFit/>
          </a:bodyPr>
          <a:lstStyle/>
          <a:p>
            <a:pPr algn="ctr">
              <a:lnSpc>
                <a:spcPts val="6518"/>
              </a:lnSpc>
              <a:spcBef>
                <a:spcPct val="0"/>
              </a:spcBef>
            </a:pPr>
            <a:r>
              <a:rPr lang="en-US" b="true" sz="4656">
                <a:solidFill>
                  <a:srgbClr val="000000"/>
                </a:solidFill>
                <a:latin typeface="Heebo Bold"/>
                <a:ea typeface="Heebo Bold"/>
                <a:cs typeface="Heebo Bold"/>
                <a:sym typeface="Heebo Bold"/>
              </a:rPr>
              <a:t>ENCODING  - OUTPUT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2611860" y="1411484"/>
            <a:ext cx="12370749" cy="8427573"/>
          </a:xfrm>
          <a:custGeom>
            <a:avLst/>
            <a:gdLst/>
            <a:ahLst/>
            <a:cxnLst/>
            <a:rect r="r" b="b" t="t" l="l"/>
            <a:pathLst>
              <a:path h="8427573" w="12370749">
                <a:moveTo>
                  <a:pt x="0" y="0"/>
                </a:moveTo>
                <a:lnTo>
                  <a:pt x="12370749" y="0"/>
                </a:lnTo>
                <a:lnTo>
                  <a:pt x="12370749" y="8427573"/>
                </a:lnTo>
                <a:lnTo>
                  <a:pt x="0" y="8427573"/>
                </a:lnTo>
                <a:lnTo>
                  <a:pt x="0" y="0"/>
                </a:lnTo>
                <a:close/>
              </a:path>
            </a:pathLst>
          </a:custGeom>
          <a:blipFill>
            <a:blip r:embed="rId2"/>
            <a:stretch>
              <a:fillRect l="0" t="0" r="0" b="0"/>
            </a:stretch>
          </a:blipFill>
        </p:spPr>
      </p:sp>
      <p:sp>
        <p:nvSpPr>
          <p:cNvPr name="TextBox 17" id="17"/>
          <p:cNvSpPr txBox="true"/>
          <p:nvPr/>
        </p:nvSpPr>
        <p:spPr>
          <a:xfrm rot="0">
            <a:off x="802468" y="634781"/>
            <a:ext cx="14980757" cy="1008380"/>
          </a:xfrm>
          <a:prstGeom prst="rect">
            <a:avLst/>
          </a:prstGeom>
        </p:spPr>
        <p:txBody>
          <a:bodyPr anchor="t" rtlCol="false" tIns="0" lIns="0" bIns="0" rIns="0">
            <a:spAutoFit/>
          </a:bodyPr>
          <a:lstStyle/>
          <a:p>
            <a:pPr algn="just">
              <a:lnSpc>
                <a:spcPts val="4839"/>
              </a:lnSpc>
            </a:pPr>
            <a:r>
              <a:rPr lang="en-US" b="true" sz="4399" spc="-43">
                <a:solidFill>
                  <a:srgbClr val="2D3E96"/>
                </a:solidFill>
                <a:latin typeface="Heebo Heavy"/>
                <a:ea typeface="Heebo Heavy"/>
                <a:cs typeface="Heebo Heavy"/>
                <a:sym typeface="Heebo Heavy"/>
              </a:rPr>
              <a:t>FEATURE IMPORTANCE USING RANDOM FOREST:</a:t>
            </a:r>
          </a:p>
          <a:p>
            <a:pPr algn="just">
              <a:lnSpc>
                <a:spcPts val="3190"/>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65764" y="1643161"/>
            <a:ext cx="11830973" cy="6422509"/>
          </a:xfrm>
          <a:custGeom>
            <a:avLst/>
            <a:gdLst/>
            <a:ahLst/>
            <a:cxnLst/>
            <a:rect r="r" b="b" t="t" l="l"/>
            <a:pathLst>
              <a:path h="6422509" w="11830973">
                <a:moveTo>
                  <a:pt x="0" y="0"/>
                </a:moveTo>
                <a:lnTo>
                  <a:pt x="11830973" y="0"/>
                </a:lnTo>
                <a:lnTo>
                  <a:pt x="11830973" y="6422509"/>
                </a:lnTo>
                <a:lnTo>
                  <a:pt x="0" y="6422509"/>
                </a:lnTo>
                <a:lnTo>
                  <a:pt x="0" y="0"/>
                </a:lnTo>
                <a:close/>
              </a:path>
            </a:pathLst>
          </a:custGeom>
          <a:blipFill>
            <a:blip r:embed="rId2"/>
            <a:stretch>
              <a:fillRect l="-1455" t="0" r="-1455" b="0"/>
            </a:stretch>
          </a:blipFill>
        </p:spPr>
      </p:sp>
      <p:sp>
        <p:nvSpPr>
          <p:cNvPr name="Freeform 17" id="17"/>
          <p:cNvSpPr/>
          <p:nvPr/>
        </p:nvSpPr>
        <p:spPr>
          <a:xfrm flipH="false" flipV="false" rot="0">
            <a:off x="11787045" y="3815625"/>
            <a:ext cx="5472255" cy="6630337"/>
          </a:xfrm>
          <a:custGeom>
            <a:avLst/>
            <a:gdLst/>
            <a:ahLst/>
            <a:cxnLst/>
            <a:rect r="r" b="b" t="t" l="l"/>
            <a:pathLst>
              <a:path h="6630337" w="5472255">
                <a:moveTo>
                  <a:pt x="0" y="0"/>
                </a:moveTo>
                <a:lnTo>
                  <a:pt x="5472255" y="0"/>
                </a:lnTo>
                <a:lnTo>
                  <a:pt x="5472255" y="6630337"/>
                </a:lnTo>
                <a:lnTo>
                  <a:pt x="0" y="6630337"/>
                </a:lnTo>
                <a:lnTo>
                  <a:pt x="0" y="0"/>
                </a:lnTo>
                <a:close/>
              </a:path>
            </a:pathLst>
          </a:custGeom>
          <a:blipFill>
            <a:blip r:embed="rId3"/>
            <a:stretch>
              <a:fillRect l="0" t="0" r="0" b="0"/>
            </a:stretch>
          </a:blipFill>
        </p:spPr>
      </p:sp>
      <p:sp>
        <p:nvSpPr>
          <p:cNvPr name="TextBox 18" id="18"/>
          <p:cNvSpPr txBox="true"/>
          <p:nvPr/>
        </p:nvSpPr>
        <p:spPr>
          <a:xfrm rot="0">
            <a:off x="802468" y="634781"/>
            <a:ext cx="14980757" cy="1008380"/>
          </a:xfrm>
          <a:prstGeom prst="rect">
            <a:avLst/>
          </a:prstGeom>
        </p:spPr>
        <p:txBody>
          <a:bodyPr anchor="t" rtlCol="false" tIns="0" lIns="0" bIns="0" rIns="0">
            <a:spAutoFit/>
          </a:bodyPr>
          <a:lstStyle/>
          <a:p>
            <a:pPr algn="just">
              <a:lnSpc>
                <a:spcPts val="4839"/>
              </a:lnSpc>
            </a:pPr>
            <a:r>
              <a:rPr lang="en-US" b="true" sz="4399" spc="-43">
                <a:solidFill>
                  <a:srgbClr val="2D3E96"/>
                </a:solidFill>
                <a:latin typeface="Heebo Heavy"/>
                <a:ea typeface="Heebo Heavy"/>
                <a:cs typeface="Heebo Heavy"/>
                <a:sym typeface="Heebo Heavy"/>
              </a:rPr>
              <a:t>FEATURE IMPORTANCE USING RANDOM FOREST:</a:t>
            </a:r>
          </a:p>
          <a:p>
            <a:pPr algn="just">
              <a:lnSpc>
                <a:spcPts val="3190"/>
              </a:lnSpc>
            </a:pP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315687" y="238125"/>
            <a:ext cx="13475193"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INSIGHTS AND SIGNIFICANT FEATURES</a:t>
            </a:r>
          </a:p>
        </p:txBody>
      </p:sp>
      <p:sp>
        <p:nvSpPr>
          <p:cNvPr name="TextBox 17" id="17"/>
          <p:cNvSpPr txBox="true"/>
          <p:nvPr/>
        </p:nvSpPr>
        <p:spPr>
          <a:xfrm rot="0">
            <a:off x="904314" y="1149051"/>
            <a:ext cx="16354986" cy="9547354"/>
          </a:xfrm>
          <a:prstGeom prst="rect">
            <a:avLst/>
          </a:prstGeom>
        </p:spPr>
        <p:txBody>
          <a:bodyPr anchor="t" rtlCol="false" tIns="0" lIns="0" bIns="0" rIns="0">
            <a:spAutoFit/>
          </a:bodyPr>
          <a:lstStyle/>
          <a:p>
            <a:pPr algn="just">
              <a:lnSpc>
                <a:spcPts val="5067"/>
              </a:lnSpc>
            </a:pPr>
            <a:r>
              <a:rPr lang="en-US" sz="3619" b="true">
                <a:solidFill>
                  <a:srgbClr val="FDFFF8"/>
                </a:solidFill>
                <a:latin typeface="Heebo Bold"/>
                <a:ea typeface="Heebo Bold"/>
                <a:cs typeface="Heebo Bold"/>
                <a:sym typeface="Heebo Bold"/>
              </a:rPr>
              <a:t>Significant Factors:</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Job Level (0.0992):</a:t>
            </a:r>
            <a:r>
              <a:rPr lang="en-US" sz="3619">
                <a:solidFill>
                  <a:srgbClr val="FDFFF8"/>
                </a:solidFill>
                <a:latin typeface="Heebo"/>
                <a:ea typeface="Heebo"/>
                <a:cs typeface="Heebo"/>
                <a:sym typeface="Heebo"/>
              </a:rPr>
              <a:t> Strongly influences attrition, with higher job levels often being linked to greater turnover.</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Distance from Home (0.0899):</a:t>
            </a:r>
            <a:r>
              <a:rPr lang="en-US" sz="3619">
                <a:solidFill>
                  <a:srgbClr val="FDFFF8"/>
                </a:solidFill>
                <a:latin typeface="Heebo"/>
                <a:ea typeface="Heebo"/>
                <a:cs typeface="Heebo"/>
                <a:sym typeface="Heebo"/>
              </a:rPr>
              <a:t> Employees with longer commutes tend to leave more often due to the inconvenience.</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Monthly Income (0.0854): </a:t>
            </a:r>
            <a:r>
              <a:rPr lang="en-US" sz="3619">
                <a:solidFill>
                  <a:srgbClr val="FDFFF8"/>
                </a:solidFill>
                <a:latin typeface="Heebo"/>
                <a:ea typeface="Heebo"/>
                <a:cs typeface="Heebo"/>
                <a:sym typeface="Heebo"/>
              </a:rPr>
              <a:t>Lower income employees are more likely to leave in search of better financial opportunities.</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Age (0.0727):</a:t>
            </a:r>
            <a:r>
              <a:rPr lang="en-US" sz="3619">
                <a:solidFill>
                  <a:srgbClr val="FDFFF8"/>
                </a:solidFill>
                <a:latin typeface="Heebo"/>
                <a:ea typeface="Heebo"/>
                <a:cs typeface="Heebo"/>
                <a:sym typeface="Heebo"/>
              </a:rPr>
              <a:t> Age affects attrition, with younger employees possibly seeking more growth opportunities.</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Company Tenure (0.0796):</a:t>
            </a:r>
            <a:r>
              <a:rPr lang="en-US" sz="3619">
                <a:solidFill>
                  <a:srgbClr val="FDFFF8"/>
                </a:solidFill>
                <a:latin typeface="Heebo"/>
                <a:ea typeface="Heebo"/>
                <a:cs typeface="Heebo"/>
                <a:sym typeface="Heebo"/>
              </a:rPr>
              <a:t> Employees with longer tenure may stay longer, while newer employees are more likely to leave.</a:t>
            </a:r>
          </a:p>
          <a:p>
            <a:pPr algn="just">
              <a:lnSpc>
                <a:spcPts val="5067"/>
              </a:lnSpc>
            </a:pPr>
            <a:r>
              <a:rPr lang="en-US" sz="3619" b="true">
                <a:solidFill>
                  <a:srgbClr val="FDFFF8"/>
                </a:solidFill>
                <a:latin typeface="Heebo Bold"/>
                <a:ea typeface="Heebo Bold"/>
                <a:cs typeface="Heebo Bold"/>
                <a:sym typeface="Heebo Bold"/>
              </a:rPr>
              <a:t>Not Significant Factor:</a:t>
            </a:r>
          </a:p>
          <a:p>
            <a:pPr algn="just" marL="781539" indent="-390770" lvl="1">
              <a:lnSpc>
                <a:spcPts val="5067"/>
              </a:lnSpc>
              <a:buFont typeface="Arial"/>
              <a:buChar char="•"/>
            </a:pPr>
            <a:r>
              <a:rPr lang="en-US" b="true" sz="3619">
                <a:solidFill>
                  <a:srgbClr val="FDFFF8"/>
                </a:solidFill>
                <a:latin typeface="Heebo Bold"/>
                <a:ea typeface="Heebo Bold"/>
                <a:cs typeface="Heebo Bold"/>
                <a:sym typeface="Heebo Bold"/>
              </a:rPr>
              <a:t>Employee Recognition (0.0290):</a:t>
            </a:r>
            <a:r>
              <a:rPr lang="en-US" sz="3619">
                <a:solidFill>
                  <a:srgbClr val="FDFFF8"/>
                </a:solidFill>
                <a:latin typeface="Heebo"/>
                <a:ea typeface="Heebo"/>
                <a:cs typeface="Heebo"/>
                <a:sym typeface="Heebo"/>
              </a:rPr>
              <a:t> While important, its effect on attrition is smaller compared to other factors.</a:t>
            </a:r>
          </a:p>
          <a:p>
            <a:pPr algn="just">
              <a:lnSpc>
                <a:spcPts val="5067"/>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384147" y="3272199"/>
            <a:ext cx="14657329" cy="6375938"/>
          </a:xfrm>
          <a:custGeom>
            <a:avLst/>
            <a:gdLst/>
            <a:ahLst/>
            <a:cxnLst/>
            <a:rect r="r" b="b" t="t" l="l"/>
            <a:pathLst>
              <a:path h="6375938" w="14657329">
                <a:moveTo>
                  <a:pt x="0" y="0"/>
                </a:moveTo>
                <a:lnTo>
                  <a:pt x="14657330" y="0"/>
                </a:lnTo>
                <a:lnTo>
                  <a:pt x="14657330" y="6375938"/>
                </a:lnTo>
                <a:lnTo>
                  <a:pt x="0" y="6375938"/>
                </a:lnTo>
                <a:lnTo>
                  <a:pt x="0" y="0"/>
                </a:lnTo>
                <a:close/>
              </a:path>
            </a:pathLst>
          </a:custGeom>
          <a:blipFill>
            <a:blip r:embed="rId2"/>
            <a:stretch>
              <a:fillRect l="0" t="0" r="0" b="0"/>
            </a:stretch>
          </a:blipFill>
        </p:spPr>
      </p:sp>
      <p:sp>
        <p:nvSpPr>
          <p:cNvPr name="TextBox 17" id="17"/>
          <p:cNvSpPr txBox="true"/>
          <p:nvPr/>
        </p:nvSpPr>
        <p:spPr>
          <a:xfrm rot="0">
            <a:off x="802468" y="634781"/>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TRAIN-TEST SPLIT</a:t>
            </a:r>
          </a:p>
          <a:p>
            <a:pPr algn="just">
              <a:lnSpc>
                <a:spcPts val="5169"/>
              </a:lnSpc>
            </a:pPr>
          </a:p>
        </p:txBody>
      </p:sp>
      <p:sp>
        <p:nvSpPr>
          <p:cNvPr name="TextBox 18" id="18"/>
          <p:cNvSpPr txBox="true"/>
          <p:nvPr/>
        </p:nvSpPr>
        <p:spPr>
          <a:xfrm rot="0">
            <a:off x="1384147" y="1528416"/>
            <a:ext cx="14657329" cy="1352615"/>
          </a:xfrm>
          <a:prstGeom prst="rect">
            <a:avLst/>
          </a:prstGeom>
        </p:spPr>
        <p:txBody>
          <a:bodyPr anchor="t" rtlCol="false" tIns="0" lIns="0" bIns="0" rIns="0">
            <a:spAutoFit/>
          </a:bodyPr>
          <a:lstStyle/>
          <a:p>
            <a:pPr algn="just">
              <a:lnSpc>
                <a:spcPts val="3671"/>
              </a:lnSpc>
              <a:spcBef>
                <a:spcPct val="0"/>
              </a:spcBef>
            </a:pPr>
            <a:r>
              <a:rPr lang="en-US" sz="2622">
                <a:solidFill>
                  <a:srgbClr val="2D3E96"/>
                </a:solidFill>
                <a:latin typeface="Heebo"/>
                <a:ea typeface="Heebo"/>
                <a:cs typeface="Heebo"/>
                <a:sym typeface="Heebo"/>
              </a:rPr>
              <a:t>This code splits the dataset df into features (X) and target (y), where Attrition is the target variable. It then divides the data into training and testing sets using an 80-20 split, with the train_test_split function. Finally, it prints the shapes of the training and testing datasets to confirm the division.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028700" y="1962607"/>
            <a:ext cx="8512553" cy="7876449"/>
          </a:xfrm>
          <a:custGeom>
            <a:avLst/>
            <a:gdLst/>
            <a:ahLst/>
            <a:cxnLst/>
            <a:rect r="r" b="b" t="t" l="l"/>
            <a:pathLst>
              <a:path h="7876449" w="8512553">
                <a:moveTo>
                  <a:pt x="0" y="0"/>
                </a:moveTo>
                <a:lnTo>
                  <a:pt x="8512553" y="0"/>
                </a:lnTo>
                <a:lnTo>
                  <a:pt x="8512553" y="7876450"/>
                </a:lnTo>
                <a:lnTo>
                  <a:pt x="0" y="7876450"/>
                </a:lnTo>
                <a:lnTo>
                  <a:pt x="0" y="0"/>
                </a:lnTo>
                <a:close/>
              </a:path>
            </a:pathLst>
          </a:custGeom>
          <a:blipFill>
            <a:blip r:embed="rId2"/>
            <a:stretch>
              <a:fillRect l="0" t="0" r="-226" b="0"/>
            </a:stretch>
          </a:blipFill>
        </p:spPr>
      </p:sp>
      <p:sp>
        <p:nvSpPr>
          <p:cNvPr name="TextBox 17" id="17"/>
          <p:cNvSpPr txBox="true"/>
          <p:nvPr/>
        </p:nvSpPr>
        <p:spPr>
          <a:xfrm rot="0">
            <a:off x="802468" y="634781"/>
            <a:ext cx="14980757" cy="19551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FEATURE SELECTION AND SCALING:</a:t>
            </a:r>
          </a:p>
          <a:p>
            <a:pPr algn="just">
              <a:lnSpc>
                <a:spcPts val="5169"/>
              </a:lnSpc>
            </a:pPr>
          </a:p>
          <a:p>
            <a:pPr algn="just">
              <a:lnSpc>
                <a:spcPts val="5169"/>
              </a:lnSpc>
            </a:pPr>
          </a:p>
        </p:txBody>
      </p:sp>
      <p:sp>
        <p:nvSpPr>
          <p:cNvPr name="TextBox 18" id="18"/>
          <p:cNvSpPr txBox="true"/>
          <p:nvPr/>
        </p:nvSpPr>
        <p:spPr>
          <a:xfrm rot="0">
            <a:off x="9890485" y="2409760"/>
            <a:ext cx="7760700" cy="5117979"/>
          </a:xfrm>
          <a:prstGeom prst="rect">
            <a:avLst/>
          </a:prstGeom>
        </p:spPr>
        <p:txBody>
          <a:bodyPr anchor="t" rtlCol="false" tIns="0" lIns="0" bIns="0" rIns="0">
            <a:spAutoFit/>
          </a:bodyPr>
          <a:lstStyle/>
          <a:p>
            <a:pPr algn="just">
              <a:lnSpc>
                <a:spcPts val="4556"/>
              </a:lnSpc>
              <a:spcBef>
                <a:spcPct val="0"/>
              </a:spcBef>
            </a:pPr>
            <a:r>
              <a:rPr lang="en-US" sz="3254">
                <a:solidFill>
                  <a:srgbClr val="2D3E96"/>
                </a:solidFill>
                <a:latin typeface="Heebo"/>
                <a:ea typeface="Heebo"/>
                <a:cs typeface="Heebo"/>
                <a:sym typeface="Heebo"/>
              </a:rPr>
              <a:t>This code defines a list of selected features based on their impact on employee retention, such as gender, job satisfaction, and performance rating. It then creates new training and testing datasets using only these selected features. Finally, it prints the shapes of the resulting datasets to confirm the feature selection process.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028700" y="3291842"/>
            <a:ext cx="5903041" cy="6749557"/>
          </a:xfrm>
          <a:custGeom>
            <a:avLst/>
            <a:gdLst/>
            <a:ahLst/>
            <a:cxnLst/>
            <a:rect r="r" b="b" t="t" l="l"/>
            <a:pathLst>
              <a:path h="6749557" w="5903041">
                <a:moveTo>
                  <a:pt x="0" y="0"/>
                </a:moveTo>
                <a:lnTo>
                  <a:pt x="5903041" y="0"/>
                </a:lnTo>
                <a:lnTo>
                  <a:pt x="5903041" y="6749558"/>
                </a:lnTo>
                <a:lnTo>
                  <a:pt x="0" y="6749558"/>
                </a:lnTo>
                <a:lnTo>
                  <a:pt x="0" y="0"/>
                </a:lnTo>
                <a:close/>
              </a:path>
            </a:pathLst>
          </a:custGeom>
          <a:blipFill>
            <a:blip r:embed="rId2"/>
            <a:stretch>
              <a:fillRect l="0" t="0" r="0" b="0"/>
            </a:stretch>
          </a:blipFill>
        </p:spPr>
      </p:sp>
      <p:sp>
        <p:nvSpPr>
          <p:cNvPr name="Freeform 17" id="17"/>
          <p:cNvSpPr/>
          <p:nvPr/>
        </p:nvSpPr>
        <p:spPr>
          <a:xfrm flipH="false" flipV="false" rot="0">
            <a:off x="7132855" y="3291842"/>
            <a:ext cx="10750364" cy="6547214"/>
          </a:xfrm>
          <a:custGeom>
            <a:avLst/>
            <a:gdLst/>
            <a:ahLst/>
            <a:cxnLst/>
            <a:rect r="r" b="b" t="t" l="l"/>
            <a:pathLst>
              <a:path h="6547214" w="10750364">
                <a:moveTo>
                  <a:pt x="0" y="0"/>
                </a:moveTo>
                <a:lnTo>
                  <a:pt x="10750365" y="0"/>
                </a:lnTo>
                <a:lnTo>
                  <a:pt x="10750365" y="6547215"/>
                </a:lnTo>
                <a:lnTo>
                  <a:pt x="0" y="6547215"/>
                </a:lnTo>
                <a:lnTo>
                  <a:pt x="0" y="0"/>
                </a:lnTo>
                <a:close/>
              </a:path>
            </a:pathLst>
          </a:custGeom>
          <a:blipFill>
            <a:blip r:embed="rId3"/>
            <a:stretch>
              <a:fillRect l="0" t="0" r="0" b="0"/>
            </a:stretch>
          </a:blipFill>
        </p:spPr>
      </p:sp>
      <p:sp>
        <p:nvSpPr>
          <p:cNvPr name="TextBox 18" id="18"/>
          <p:cNvSpPr txBox="true"/>
          <p:nvPr/>
        </p:nvSpPr>
        <p:spPr>
          <a:xfrm rot="0">
            <a:off x="802468" y="634781"/>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MODEL FITTING AND EVALUATION:</a:t>
            </a:r>
          </a:p>
          <a:p>
            <a:pPr algn="just">
              <a:lnSpc>
                <a:spcPts val="5169"/>
              </a:lnSpc>
            </a:pPr>
          </a:p>
        </p:txBody>
      </p:sp>
      <p:sp>
        <p:nvSpPr>
          <p:cNvPr name="TextBox 19" id="19"/>
          <p:cNvSpPr txBox="true"/>
          <p:nvPr/>
        </p:nvSpPr>
        <p:spPr>
          <a:xfrm rot="0">
            <a:off x="1384147" y="1528416"/>
            <a:ext cx="14657329" cy="1352615"/>
          </a:xfrm>
          <a:prstGeom prst="rect">
            <a:avLst/>
          </a:prstGeom>
        </p:spPr>
        <p:txBody>
          <a:bodyPr anchor="t" rtlCol="false" tIns="0" lIns="0" bIns="0" rIns="0">
            <a:spAutoFit/>
          </a:bodyPr>
          <a:lstStyle/>
          <a:p>
            <a:pPr algn="just">
              <a:lnSpc>
                <a:spcPts val="3671"/>
              </a:lnSpc>
              <a:spcBef>
                <a:spcPct val="0"/>
              </a:spcBef>
            </a:pPr>
            <a:r>
              <a:rPr lang="en-US" sz="2622">
                <a:solidFill>
                  <a:srgbClr val="2D3E96"/>
                </a:solidFill>
                <a:latin typeface="Heebo"/>
                <a:ea typeface="Heebo"/>
                <a:cs typeface="Heebo"/>
                <a:sym typeface="Heebo"/>
              </a:rPr>
              <a:t>Model fitting trains a machine learning model by learning patterns from the training data. Model evaluation tests the model's performance on unseen data using metrics like accuracy and precision.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315379" y="2357458"/>
            <a:ext cx="8828621" cy="6381231"/>
          </a:xfrm>
          <a:custGeom>
            <a:avLst/>
            <a:gdLst/>
            <a:ahLst/>
            <a:cxnLst/>
            <a:rect r="r" b="b" t="t" l="l"/>
            <a:pathLst>
              <a:path h="6381231" w="8828621">
                <a:moveTo>
                  <a:pt x="0" y="0"/>
                </a:moveTo>
                <a:lnTo>
                  <a:pt x="8828621" y="0"/>
                </a:lnTo>
                <a:lnTo>
                  <a:pt x="8828621" y="6381231"/>
                </a:lnTo>
                <a:lnTo>
                  <a:pt x="0" y="6381231"/>
                </a:lnTo>
                <a:lnTo>
                  <a:pt x="0" y="0"/>
                </a:lnTo>
                <a:close/>
              </a:path>
            </a:pathLst>
          </a:custGeom>
          <a:blipFill>
            <a:blip r:embed="rId2"/>
            <a:stretch>
              <a:fillRect l="0" t="0" r="0" b="0"/>
            </a:stretch>
          </a:blipFill>
        </p:spPr>
      </p:sp>
      <p:sp>
        <p:nvSpPr>
          <p:cNvPr name="Freeform 17" id="17"/>
          <p:cNvSpPr/>
          <p:nvPr/>
        </p:nvSpPr>
        <p:spPr>
          <a:xfrm flipH="false" flipV="false" rot="0">
            <a:off x="9439215" y="2357458"/>
            <a:ext cx="8507186" cy="6341720"/>
          </a:xfrm>
          <a:custGeom>
            <a:avLst/>
            <a:gdLst/>
            <a:ahLst/>
            <a:cxnLst/>
            <a:rect r="r" b="b" t="t" l="l"/>
            <a:pathLst>
              <a:path h="6341720" w="8507186">
                <a:moveTo>
                  <a:pt x="0" y="0"/>
                </a:moveTo>
                <a:lnTo>
                  <a:pt x="8507186" y="0"/>
                </a:lnTo>
                <a:lnTo>
                  <a:pt x="8507186" y="6341720"/>
                </a:lnTo>
                <a:lnTo>
                  <a:pt x="0" y="6341720"/>
                </a:lnTo>
                <a:lnTo>
                  <a:pt x="0" y="0"/>
                </a:lnTo>
                <a:close/>
              </a:path>
            </a:pathLst>
          </a:custGeom>
          <a:blipFill>
            <a:blip r:embed="rId3"/>
            <a:stretch>
              <a:fillRect l="0" t="0" r="0" b="0"/>
            </a:stretch>
          </a:blipFill>
        </p:spPr>
      </p:sp>
      <p:sp>
        <p:nvSpPr>
          <p:cNvPr name="TextBox 18" id="18"/>
          <p:cNvSpPr txBox="true"/>
          <p:nvPr/>
        </p:nvSpPr>
        <p:spPr>
          <a:xfrm rot="0">
            <a:off x="315379" y="634781"/>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MODEL FITTING AND EVALUATION:</a:t>
            </a:r>
          </a:p>
          <a:p>
            <a:pPr algn="just">
              <a:lnSpc>
                <a:spcPts val="5169"/>
              </a:lnSpc>
            </a:pP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548726" y="606821"/>
            <a:ext cx="13475193"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INSIGHTS AND SIGNIFICANT FEATURES</a:t>
            </a:r>
          </a:p>
        </p:txBody>
      </p:sp>
      <p:sp>
        <p:nvSpPr>
          <p:cNvPr name="TextBox 17" id="17"/>
          <p:cNvSpPr txBox="true"/>
          <p:nvPr/>
        </p:nvSpPr>
        <p:spPr>
          <a:xfrm rot="0">
            <a:off x="1028700" y="1681711"/>
            <a:ext cx="16354986" cy="8058914"/>
          </a:xfrm>
          <a:prstGeom prst="rect">
            <a:avLst/>
          </a:prstGeom>
        </p:spPr>
        <p:txBody>
          <a:bodyPr anchor="t" rtlCol="false" tIns="0" lIns="0" bIns="0" rIns="0">
            <a:spAutoFit/>
          </a:bodyPr>
          <a:lstStyle/>
          <a:p>
            <a:pPr algn="just">
              <a:lnSpc>
                <a:spcPts val="5067"/>
              </a:lnSpc>
            </a:pPr>
            <a:r>
              <a:rPr lang="en-US" sz="3619" b="true">
                <a:solidFill>
                  <a:srgbClr val="FDFFF8"/>
                </a:solidFill>
                <a:latin typeface="Heebo Bold"/>
                <a:ea typeface="Heebo Bold"/>
                <a:cs typeface="Heebo Bold"/>
                <a:sym typeface="Heebo Bold"/>
              </a:rPr>
              <a:t>Best Model Selection: Quadratic Discriminant Analysis (QDA)</a:t>
            </a:r>
            <a:r>
              <a:rPr lang="en-US" sz="3619">
                <a:solidFill>
                  <a:srgbClr val="FDFFF8"/>
                </a:solidFill>
                <a:latin typeface="Heebo"/>
                <a:ea typeface="Heebo"/>
                <a:cs typeface="Heebo"/>
                <a:sym typeface="Heebo"/>
              </a:rPr>
              <a:t> was chosen as the optimal model for predicting employee attrition due to its balanced performance, particularly in terms of </a:t>
            </a:r>
            <a:r>
              <a:rPr lang="en-US" sz="3619" b="true">
                <a:solidFill>
                  <a:srgbClr val="FDFFF8"/>
                </a:solidFill>
                <a:latin typeface="Heebo Bold"/>
                <a:ea typeface="Heebo Bold"/>
                <a:cs typeface="Heebo Bold"/>
                <a:sym typeface="Heebo Bold"/>
              </a:rPr>
              <a:t>recall</a:t>
            </a:r>
            <a:r>
              <a:rPr lang="en-US" sz="3619">
                <a:solidFill>
                  <a:srgbClr val="FDFFF8"/>
                </a:solidFill>
                <a:latin typeface="Heebo"/>
                <a:ea typeface="Heebo"/>
                <a:cs typeface="Heebo"/>
                <a:sym typeface="Heebo"/>
              </a:rPr>
              <a:t>. Although QDA showed a slightly lower accuracy and precision compared to other models like Logistic Regression and Random Forest, its higher recall of 68.44% indicates that </a:t>
            </a:r>
            <a:r>
              <a:rPr lang="en-US" sz="3619" b="true">
                <a:solidFill>
                  <a:srgbClr val="FDFFF8"/>
                </a:solidFill>
                <a:latin typeface="Heebo Bold"/>
                <a:ea typeface="Heebo Bold"/>
                <a:cs typeface="Heebo Bold"/>
                <a:sym typeface="Heebo Bold"/>
              </a:rPr>
              <a:t>it is more effective at identifying employees who are at risk of leaving</a:t>
            </a:r>
            <a:r>
              <a:rPr lang="en-US" sz="3619">
                <a:solidFill>
                  <a:srgbClr val="FDFFF8"/>
                </a:solidFill>
                <a:latin typeface="Heebo"/>
                <a:ea typeface="Heebo"/>
                <a:cs typeface="Heebo"/>
                <a:sym typeface="Heebo"/>
              </a:rPr>
              <a:t>. In the context of employee attrition, minimizing false negatives (i.e., employees who may leave but are not predicted) is crucial for proactive retention efforts. By prioritizing recall, QDA ensures that more at-risk employees are identified, allowing for targeted retention strategies. This makes QDA a suitable choice for a problem where preventing attrition is the primary focus, and catching as many potential leavers as possible is a key priority.</a:t>
            </a:r>
          </a:p>
          <a:p>
            <a:pPr algn="just">
              <a:lnSpc>
                <a:spcPts val="3247"/>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393672" y="2659250"/>
            <a:ext cx="9369122" cy="7295427"/>
          </a:xfrm>
          <a:custGeom>
            <a:avLst/>
            <a:gdLst/>
            <a:ahLst/>
            <a:cxnLst/>
            <a:rect r="r" b="b" t="t" l="l"/>
            <a:pathLst>
              <a:path h="7295427" w="9369122">
                <a:moveTo>
                  <a:pt x="0" y="0"/>
                </a:moveTo>
                <a:lnTo>
                  <a:pt x="9369123" y="0"/>
                </a:lnTo>
                <a:lnTo>
                  <a:pt x="9369123" y="7295427"/>
                </a:lnTo>
                <a:lnTo>
                  <a:pt x="0" y="7295427"/>
                </a:lnTo>
                <a:lnTo>
                  <a:pt x="0" y="0"/>
                </a:lnTo>
                <a:close/>
              </a:path>
            </a:pathLst>
          </a:custGeom>
          <a:blipFill>
            <a:blip r:embed="rId2"/>
            <a:stretch>
              <a:fillRect l="0" t="-489" r="0" b="-489"/>
            </a:stretch>
          </a:blipFill>
        </p:spPr>
      </p:sp>
      <p:sp>
        <p:nvSpPr>
          <p:cNvPr name="Freeform 17" id="17"/>
          <p:cNvSpPr/>
          <p:nvPr/>
        </p:nvSpPr>
        <p:spPr>
          <a:xfrm flipH="false" flipV="false" rot="0">
            <a:off x="7955613" y="7760056"/>
            <a:ext cx="10332387" cy="1725332"/>
          </a:xfrm>
          <a:custGeom>
            <a:avLst/>
            <a:gdLst/>
            <a:ahLst/>
            <a:cxnLst/>
            <a:rect r="r" b="b" t="t" l="l"/>
            <a:pathLst>
              <a:path h="1725332" w="10332387">
                <a:moveTo>
                  <a:pt x="0" y="0"/>
                </a:moveTo>
                <a:lnTo>
                  <a:pt x="10332387" y="0"/>
                </a:lnTo>
                <a:lnTo>
                  <a:pt x="10332387" y="1725332"/>
                </a:lnTo>
                <a:lnTo>
                  <a:pt x="0" y="1725332"/>
                </a:lnTo>
                <a:lnTo>
                  <a:pt x="0" y="0"/>
                </a:lnTo>
                <a:close/>
              </a:path>
            </a:pathLst>
          </a:custGeom>
          <a:blipFill>
            <a:blip r:embed="rId3"/>
            <a:stretch>
              <a:fillRect l="0" t="0" r="0" b="0"/>
            </a:stretch>
          </a:blipFill>
        </p:spPr>
      </p:sp>
      <p:sp>
        <p:nvSpPr>
          <p:cNvPr name="TextBox 18" id="18"/>
          <p:cNvSpPr txBox="true"/>
          <p:nvPr/>
        </p:nvSpPr>
        <p:spPr>
          <a:xfrm rot="0">
            <a:off x="802468" y="634781"/>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HYPERPARAMETER TUNING OF THE BEST MODEL</a:t>
            </a:r>
          </a:p>
          <a:p>
            <a:pPr algn="just">
              <a:lnSpc>
                <a:spcPts val="5169"/>
              </a:lnSpc>
            </a:pPr>
          </a:p>
        </p:txBody>
      </p:sp>
      <p:sp>
        <p:nvSpPr>
          <p:cNvPr name="TextBox 19" id="19"/>
          <p:cNvSpPr txBox="true"/>
          <p:nvPr/>
        </p:nvSpPr>
        <p:spPr>
          <a:xfrm rot="0">
            <a:off x="1384147" y="1528416"/>
            <a:ext cx="14657329" cy="895415"/>
          </a:xfrm>
          <a:prstGeom prst="rect">
            <a:avLst/>
          </a:prstGeom>
        </p:spPr>
        <p:txBody>
          <a:bodyPr anchor="t" rtlCol="false" tIns="0" lIns="0" bIns="0" rIns="0">
            <a:spAutoFit/>
          </a:bodyPr>
          <a:lstStyle/>
          <a:p>
            <a:pPr algn="just">
              <a:lnSpc>
                <a:spcPts val="3671"/>
              </a:lnSpc>
              <a:spcBef>
                <a:spcPct val="0"/>
              </a:spcBef>
            </a:pPr>
            <a:r>
              <a:rPr lang="en-US" sz="2622">
                <a:solidFill>
                  <a:srgbClr val="2D3E96"/>
                </a:solidFill>
                <a:latin typeface="Heebo"/>
                <a:ea typeface="Heebo"/>
                <a:cs typeface="Heebo"/>
                <a:sym typeface="Heebo"/>
              </a:rPr>
              <a:t>Hyperparameter tuning optimizes a model’s settings to improve performance. Techniques like grid search and random search are used to find the best combination of hyperparameters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1028700" y="3728757"/>
            <a:ext cx="11301259" cy="3291492"/>
          </a:xfrm>
          <a:custGeom>
            <a:avLst/>
            <a:gdLst/>
            <a:ahLst/>
            <a:cxnLst/>
            <a:rect r="r" b="b" t="t" l="l"/>
            <a:pathLst>
              <a:path h="3291492" w="11301259">
                <a:moveTo>
                  <a:pt x="0" y="0"/>
                </a:moveTo>
                <a:lnTo>
                  <a:pt x="11301259" y="0"/>
                </a:lnTo>
                <a:lnTo>
                  <a:pt x="11301259" y="3291491"/>
                </a:lnTo>
                <a:lnTo>
                  <a:pt x="0" y="3291491"/>
                </a:lnTo>
                <a:lnTo>
                  <a:pt x="0" y="0"/>
                </a:lnTo>
                <a:close/>
              </a:path>
            </a:pathLst>
          </a:custGeom>
          <a:blipFill>
            <a:blip r:embed="rId2"/>
            <a:stretch>
              <a:fillRect l="0" t="0" r="0" b="0"/>
            </a:stretch>
          </a:blipFill>
        </p:spPr>
      </p:sp>
      <p:sp>
        <p:nvSpPr>
          <p:cNvPr name="Freeform 17" id="17"/>
          <p:cNvSpPr/>
          <p:nvPr/>
        </p:nvSpPr>
        <p:spPr>
          <a:xfrm flipH="false" flipV="false" rot="0">
            <a:off x="1177068" y="7549422"/>
            <a:ext cx="11301259" cy="2500404"/>
          </a:xfrm>
          <a:custGeom>
            <a:avLst/>
            <a:gdLst/>
            <a:ahLst/>
            <a:cxnLst/>
            <a:rect r="r" b="b" t="t" l="l"/>
            <a:pathLst>
              <a:path h="2500404" w="11301259">
                <a:moveTo>
                  <a:pt x="0" y="0"/>
                </a:moveTo>
                <a:lnTo>
                  <a:pt x="11301259" y="0"/>
                </a:lnTo>
                <a:lnTo>
                  <a:pt x="11301259" y="2500404"/>
                </a:lnTo>
                <a:lnTo>
                  <a:pt x="0" y="2500404"/>
                </a:lnTo>
                <a:lnTo>
                  <a:pt x="0" y="0"/>
                </a:lnTo>
                <a:close/>
              </a:path>
            </a:pathLst>
          </a:custGeom>
          <a:blipFill>
            <a:blip r:embed="rId3"/>
            <a:stretch>
              <a:fillRect l="0" t="0" r="0" b="0"/>
            </a:stretch>
          </a:blipFill>
        </p:spPr>
      </p:sp>
      <p:sp>
        <p:nvSpPr>
          <p:cNvPr name="TextBox 18" id="18"/>
          <p:cNvSpPr txBox="true"/>
          <p:nvPr/>
        </p:nvSpPr>
        <p:spPr>
          <a:xfrm rot="0">
            <a:off x="802468" y="525752"/>
            <a:ext cx="14980757" cy="6597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TRAINING AND PREDICTION</a:t>
            </a:r>
          </a:p>
        </p:txBody>
      </p:sp>
      <p:sp>
        <p:nvSpPr>
          <p:cNvPr name="TextBox 19" id="19"/>
          <p:cNvSpPr txBox="true"/>
          <p:nvPr/>
        </p:nvSpPr>
        <p:spPr>
          <a:xfrm rot="0">
            <a:off x="1384147" y="1528416"/>
            <a:ext cx="14657329" cy="1809815"/>
          </a:xfrm>
          <a:prstGeom prst="rect">
            <a:avLst/>
          </a:prstGeom>
        </p:spPr>
        <p:txBody>
          <a:bodyPr anchor="t" rtlCol="false" tIns="0" lIns="0" bIns="0" rIns="0">
            <a:spAutoFit/>
          </a:bodyPr>
          <a:lstStyle/>
          <a:p>
            <a:pPr algn="just">
              <a:lnSpc>
                <a:spcPts val="3671"/>
              </a:lnSpc>
              <a:spcBef>
                <a:spcPct val="0"/>
              </a:spcBef>
            </a:pPr>
            <a:r>
              <a:rPr lang="en-US" sz="2622">
                <a:solidFill>
                  <a:srgbClr val="2D3E96"/>
                </a:solidFill>
                <a:latin typeface="Heebo"/>
                <a:ea typeface="Heebo"/>
                <a:cs typeface="Heebo"/>
                <a:sym typeface="Heebo"/>
              </a:rPr>
              <a:t>The QDA model is initialized with optimal parameters (priors=[0.5, 0.5], reg_param=0.1), trained on the scaled training data, and used to predict employee attrition on the test set. The predictions, stored in y_pred_best, are output as a series of 0s and 1s, representing the predicted attrition status for each test sample.</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2244384" y="3688509"/>
            <a:ext cx="11627665" cy="6395216"/>
          </a:xfrm>
          <a:custGeom>
            <a:avLst/>
            <a:gdLst/>
            <a:ahLst/>
            <a:cxnLst/>
            <a:rect r="r" b="b" t="t" l="l"/>
            <a:pathLst>
              <a:path h="6395216" w="11627665">
                <a:moveTo>
                  <a:pt x="0" y="0"/>
                </a:moveTo>
                <a:lnTo>
                  <a:pt x="11627665" y="0"/>
                </a:lnTo>
                <a:lnTo>
                  <a:pt x="11627665" y="6395216"/>
                </a:lnTo>
                <a:lnTo>
                  <a:pt x="0" y="6395216"/>
                </a:lnTo>
                <a:lnTo>
                  <a:pt x="0" y="0"/>
                </a:lnTo>
                <a:close/>
              </a:path>
            </a:pathLst>
          </a:custGeom>
          <a:blipFill>
            <a:blip r:embed="rId2"/>
            <a:stretch>
              <a:fillRect l="0" t="0" r="0" b="0"/>
            </a:stretch>
          </a:blipFill>
        </p:spPr>
      </p:sp>
      <p:sp>
        <p:nvSpPr>
          <p:cNvPr name="TextBox 17" id="17"/>
          <p:cNvSpPr txBox="true"/>
          <p:nvPr/>
        </p:nvSpPr>
        <p:spPr>
          <a:xfrm rot="0">
            <a:off x="802468" y="525752"/>
            <a:ext cx="14980757" cy="6597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CALCULATE METRICS FOR THE PREDICTION</a:t>
            </a:r>
          </a:p>
        </p:txBody>
      </p:sp>
      <p:sp>
        <p:nvSpPr>
          <p:cNvPr name="TextBox 18" id="18"/>
          <p:cNvSpPr txBox="true"/>
          <p:nvPr/>
        </p:nvSpPr>
        <p:spPr>
          <a:xfrm rot="0">
            <a:off x="1384147" y="1278619"/>
            <a:ext cx="14657329" cy="2267015"/>
          </a:xfrm>
          <a:prstGeom prst="rect">
            <a:avLst/>
          </a:prstGeom>
        </p:spPr>
        <p:txBody>
          <a:bodyPr anchor="t" rtlCol="false" tIns="0" lIns="0" bIns="0" rIns="0">
            <a:spAutoFit/>
          </a:bodyPr>
          <a:lstStyle/>
          <a:p>
            <a:pPr algn="just">
              <a:lnSpc>
                <a:spcPts val="3671"/>
              </a:lnSpc>
              <a:spcBef>
                <a:spcPct val="0"/>
              </a:spcBef>
            </a:pPr>
            <a:r>
              <a:rPr lang="en-US" sz="2622">
                <a:solidFill>
                  <a:srgbClr val="2D3E96"/>
                </a:solidFill>
                <a:latin typeface="Heebo"/>
                <a:ea typeface="Heebo"/>
                <a:cs typeface="Heebo"/>
                <a:sym typeface="Heebo"/>
              </a:rPr>
              <a:t>The Best QDA Model has an </a:t>
            </a:r>
            <a:r>
              <a:rPr lang="en-US" b="true" sz="2622">
                <a:solidFill>
                  <a:srgbClr val="2D3E96"/>
                </a:solidFill>
                <a:latin typeface="Heebo Bold"/>
                <a:ea typeface="Heebo Bold"/>
                <a:cs typeface="Heebo Bold"/>
                <a:sym typeface="Heebo Bold"/>
              </a:rPr>
              <a:t>accuracy of 69.34%, precision of 66.65%, and recall of 72.22%</a:t>
            </a:r>
            <a:r>
              <a:rPr lang="en-US" sz="2622">
                <a:solidFill>
                  <a:srgbClr val="2D3E96"/>
                </a:solidFill>
                <a:latin typeface="Heebo"/>
                <a:ea typeface="Heebo"/>
                <a:cs typeface="Heebo"/>
                <a:sym typeface="Heebo"/>
              </a:rPr>
              <a:t>. It correctly identifies 72.22% of attrition cases (high recall), but 33.35% of predicted attrition cases are false positives (lower precision). The confusion matrix shows 3102 true negatives, 1549 false positives, 1191 false negatives, and 3096 true positives. The model is good at detecting attrition but can improve precision.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3290589" y="6460168"/>
            <a:ext cx="11301259" cy="2684049"/>
          </a:xfrm>
          <a:custGeom>
            <a:avLst/>
            <a:gdLst/>
            <a:ahLst/>
            <a:cxnLst/>
            <a:rect r="r" b="b" t="t" l="l"/>
            <a:pathLst>
              <a:path h="2684049" w="11301259">
                <a:moveTo>
                  <a:pt x="0" y="0"/>
                </a:moveTo>
                <a:lnTo>
                  <a:pt x="11301259" y="0"/>
                </a:lnTo>
                <a:lnTo>
                  <a:pt x="11301259" y="2684049"/>
                </a:lnTo>
                <a:lnTo>
                  <a:pt x="0" y="2684049"/>
                </a:lnTo>
                <a:lnTo>
                  <a:pt x="0" y="0"/>
                </a:lnTo>
                <a:close/>
              </a:path>
            </a:pathLst>
          </a:custGeom>
          <a:blipFill>
            <a:blip r:embed="rId2"/>
            <a:stretch>
              <a:fillRect l="0" t="0" r="0" b="0"/>
            </a:stretch>
          </a:blipFill>
        </p:spPr>
      </p:sp>
      <p:sp>
        <p:nvSpPr>
          <p:cNvPr name="TextBox 17" id="17"/>
          <p:cNvSpPr txBox="true"/>
          <p:nvPr/>
        </p:nvSpPr>
        <p:spPr>
          <a:xfrm rot="0">
            <a:off x="802468" y="525752"/>
            <a:ext cx="14980757" cy="6597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SAVE THE MODEL</a:t>
            </a:r>
          </a:p>
        </p:txBody>
      </p:sp>
      <p:sp>
        <p:nvSpPr>
          <p:cNvPr name="TextBox 18" id="18"/>
          <p:cNvSpPr txBox="true"/>
          <p:nvPr/>
        </p:nvSpPr>
        <p:spPr>
          <a:xfrm rot="0">
            <a:off x="1384147" y="1495360"/>
            <a:ext cx="14657329" cy="3947860"/>
          </a:xfrm>
          <a:prstGeom prst="rect">
            <a:avLst/>
          </a:prstGeom>
        </p:spPr>
        <p:txBody>
          <a:bodyPr anchor="t" rtlCol="false" tIns="0" lIns="0" bIns="0" rIns="0">
            <a:spAutoFit/>
          </a:bodyPr>
          <a:lstStyle/>
          <a:p>
            <a:pPr algn="just">
              <a:lnSpc>
                <a:spcPts val="3951"/>
              </a:lnSpc>
              <a:spcBef>
                <a:spcPct val="0"/>
              </a:spcBef>
            </a:pPr>
            <a:r>
              <a:rPr lang="en-US" sz="2822">
                <a:solidFill>
                  <a:srgbClr val="2D3E96"/>
                </a:solidFill>
                <a:latin typeface="Heebo"/>
                <a:ea typeface="Heebo"/>
                <a:cs typeface="Heebo"/>
                <a:sym typeface="Heebo"/>
              </a:rPr>
              <a:t>This code saves the trained </a:t>
            </a:r>
            <a:r>
              <a:rPr lang="en-US" b="true" sz="2822">
                <a:solidFill>
                  <a:srgbClr val="2D3E96"/>
                </a:solidFill>
                <a:latin typeface="Heebo Bold"/>
                <a:ea typeface="Heebo Bold"/>
                <a:cs typeface="Heebo Bold"/>
                <a:sym typeface="Heebo Bold"/>
              </a:rPr>
              <a:t>QDA model</a:t>
            </a:r>
            <a:r>
              <a:rPr lang="en-US" sz="2822">
                <a:solidFill>
                  <a:srgbClr val="2D3E96"/>
                </a:solidFill>
                <a:latin typeface="Heebo"/>
                <a:ea typeface="Heebo"/>
                <a:cs typeface="Heebo"/>
                <a:sym typeface="Heebo"/>
              </a:rPr>
              <a:t> (`best_qda_model`) to a file using the **joblib** library, which allows for efficient serialization of Python objects. The `joblib.dump()` function stores the model in a file named `'qda_attrition_model.pkl'`. This is useful for persisting the model after training, enabling it to be loaded and used for predictions at a later time without the need to retrain it from scratch. The line `print("Trained QDA model saved successfully.")` provides a confirmation message to indicate that the model was saved successfully. By saving the model, you ensure that the trained QDA model can be deployed or reused for future predictions in production environments.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2521748" y="1704554"/>
            <a:ext cx="13261477" cy="7260659"/>
          </a:xfrm>
          <a:custGeom>
            <a:avLst/>
            <a:gdLst/>
            <a:ahLst/>
            <a:cxnLst/>
            <a:rect r="r" b="b" t="t" l="l"/>
            <a:pathLst>
              <a:path h="7260659" w="13261477">
                <a:moveTo>
                  <a:pt x="0" y="0"/>
                </a:moveTo>
                <a:lnTo>
                  <a:pt x="13261477" y="0"/>
                </a:lnTo>
                <a:lnTo>
                  <a:pt x="13261477" y="7260659"/>
                </a:lnTo>
                <a:lnTo>
                  <a:pt x="0" y="7260659"/>
                </a:lnTo>
                <a:lnTo>
                  <a:pt x="0" y="0"/>
                </a:lnTo>
                <a:close/>
              </a:path>
            </a:pathLst>
          </a:custGeom>
          <a:blipFill>
            <a:blip r:embed="rId2"/>
            <a:stretch>
              <a:fillRect l="0" t="0" r="0" b="0"/>
            </a:stretch>
          </a:blipFill>
        </p:spPr>
      </p:sp>
      <p:sp>
        <p:nvSpPr>
          <p:cNvPr name="TextBox 17" id="17"/>
          <p:cNvSpPr txBox="true"/>
          <p:nvPr/>
        </p:nvSpPr>
        <p:spPr>
          <a:xfrm rot="0">
            <a:off x="802468" y="525752"/>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USING THE SAVED MODEL FOR PREDICTIONS</a:t>
            </a:r>
          </a:p>
          <a:p>
            <a:pPr algn="just">
              <a:lnSpc>
                <a:spcPts val="5169"/>
              </a:lnSpc>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2234601" y="1833216"/>
            <a:ext cx="13778065" cy="8077390"/>
          </a:xfrm>
          <a:custGeom>
            <a:avLst/>
            <a:gdLst/>
            <a:ahLst/>
            <a:cxnLst/>
            <a:rect r="r" b="b" t="t" l="l"/>
            <a:pathLst>
              <a:path h="8077390" w="13778065">
                <a:moveTo>
                  <a:pt x="0" y="0"/>
                </a:moveTo>
                <a:lnTo>
                  <a:pt x="13778065" y="0"/>
                </a:lnTo>
                <a:lnTo>
                  <a:pt x="13778065" y="8077391"/>
                </a:lnTo>
                <a:lnTo>
                  <a:pt x="0" y="8077391"/>
                </a:lnTo>
                <a:lnTo>
                  <a:pt x="0" y="0"/>
                </a:lnTo>
                <a:close/>
              </a:path>
            </a:pathLst>
          </a:custGeom>
          <a:blipFill>
            <a:blip r:embed="rId2"/>
            <a:stretch>
              <a:fillRect l="0" t="0" r="0" b="0"/>
            </a:stretch>
          </a:blipFill>
        </p:spPr>
      </p:sp>
      <p:sp>
        <p:nvSpPr>
          <p:cNvPr name="TextBox 17" id="17"/>
          <p:cNvSpPr txBox="true"/>
          <p:nvPr/>
        </p:nvSpPr>
        <p:spPr>
          <a:xfrm rot="0">
            <a:off x="802468" y="525752"/>
            <a:ext cx="14980757" cy="13074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USING THE SAVED MODEL FOR PREDICTIONS</a:t>
            </a:r>
          </a:p>
          <a:p>
            <a:pPr algn="just">
              <a:lnSpc>
                <a:spcPts val="5169"/>
              </a:lnSpc>
            </a:pPr>
          </a:p>
        </p:txBody>
      </p:sp>
    </p:spTree>
  </p:cSld>
  <p:clrMapOvr>
    <a:masterClrMapping/>
  </p:clrMapOvr>
</p:sld>
</file>

<file path=ppt/slides/slide40.xml><?xml version="1.0" encoding="utf-8"?>
<p:sld xmlns:p="http://schemas.openxmlformats.org/presentationml/2006/main" xmlns:a="http://schemas.openxmlformats.org/drawingml/2006/main">
  <p:cSld>
    <p:bg>
      <p:bgPr>
        <a:solidFill>
          <a:srgbClr val="2D3E96"/>
        </a:solidFill>
      </p:bgPr>
    </p:bg>
    <p:spTree>
      <p:nvGrpSpPr>
        <p:cNvPr id="1" name=""/>
        <p:cNvGrpSpPr/>
        <p:nvPr/>
      </p:nvGrpSpPr>
      <p:grpSpPr>
        <a:xfrm>
          <a:off x="0" y="0"/>
          <a:ext cx="0" cy="0"/>
          <a:chOff x="0" y="0"/>
          <a:chExt cx="0" cy="0"/>
        </a:xfrm>
      </p:grpSpPr>
      <p:grpSp>
        <p:nvGrpSpPr>
          <p:cNvPr name="Group 2" id="2"/>
          <p:cNvGrpSpPr/>
          <p:nvPr/>
        </p:nvGrpSpPr>
        <p:grpSpPr>
          <a:xfrm rot="0">
            <a:off x="-3027376" y="2040945"/>
            <a:ext cx="9859229" cy="12148584"/>
            <a:chOff x="0" y="0"/>
            <a:chExt cx="13145638" cy="16198111"/>
          </a:xfrm>
        </p:grpSpPr>
        <p:grpSp>
          <p:nvGrpSpPr>
            <p:cNvPr name="Group 3" id="3"/>
            <p:cNvGrpSpPr/>
            <p:nvPr/>
          </p:nvGrpSpPr>
          <p:grpSpPr>
            <a:xfrm rot="-2700000">
              <a:off x="1255322" y="3583521"/>
              <a:ext cx="12033050" cy="4580540"/>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ysDot"/>
                <a:miter/>
              </a:ln>
            </p:spPr>
          </p:sp>
          <p:sp>
            <p:nvSpPr>
              <p:cNvPr name="TextBox 5" id="5"/>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nvGrpSpPr>
            <p:cNvPr name="Group 6" id="6"/>
            <p:cNvGrpSpPr/>
            <p:nvPr/>
          </p:nvGrpSpPr>
          <p:grpSpPr>
            <a:xfrm rot="-2700000">
              <a:off x="-142734" y="8034051"/>
              <a:ext cx="12033050" cy="4580540"/>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E76C2C"/>
              </a:solidFill>
              <a:ln cap="sq">
                <a:noFill/>
                <a:prstDash val="solid"/>
                <a:miter/>
              </a:ln>
            </p:spPr>
          </p:sp>
          <p:sp>
            <p:nvSpPr>
              <p:cNvPr name="TextBox 8" id="8"/>
              <p:cNvSpPr txBox="true"/>
              <p:nvPr/>
            </p:nvSpPr>
            <p:spPr>
              <a:xfrm>
                <a:off x="0" y="-76200"/>
                <a:ext cx="882773" cy="412239"/>
              </a:xfrm>
              <a:prstGeom prst="rect">
                <a:avLst/>
              </a:prstGeom>
            </p:spPr>
            <p:txBody>
              <a:bodyPr anchor="ctr" rtlCol="false" tIns="139079" lIns="139079" bIns="139079" rIns="139079"/>
              <a:lstStyle/>
              <a:p>
                <a:pPr algn="ctr">
                  <a:lnSpc>
                    <a:spcPts val="5749"/>
                  </a:lnSpc>
                </a:pPr>
              </a:p>
            </p:txBody>
          </p:sp>
        </p:grpSp>
      </p:grpSp>
      <p:grpSp>
        <p:nvGrpSpPr>
          <p:cNvPr name="Group 9" id="9"/>
          <p:cNvGrpSpPr/>
          <p:nvPr/>
        </p:nvGrpSpPr>
        <p:grpSpPr>
          <a:xfrm rot="0">
            <a:off x="15139479" y="-2061052"/>
            <a:ext cx="4971840" cy="6126322"/>
            <a:chOff x="0" y="0"/>
            <a:chExt cx="6629120" cy="8168430"/>
          </a:xfrm>
        </p:grpSpPr>
        <p:grpSp>
          <p:nvGrpSpPr>
            <p:cNvPr name="Group 10" id="10"/>
            <p:cNvGrpSpPr/>
            <p:nvPr/>
          </p:nvGrpSpPr>
          <p:grpSpPr>
            <a:xfrm rot="-2700000">
              <a:off x="633038" y="1807108"/>
              <a:ext cx="6068061" cy="2309888"/>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FDFFF8"/>
                </a:solidFill>
                <a:prstDash val="solid"/>
                <a:miter/>
              </a:ln>
            </p:spPr>
          </p:sp>
          <p:sp>
            <p:nvSpPr>
              <p:cNvPr name="TextBox 12" id="12"/>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nvGrpSpPr>
            <p:cNvPr name="Group 13" id="13"/>
            <p:cNvGrpSpPr/>
            <p:nvPr/>
          </p:nvGrpSpPr>
          <p:grpSpPr>
            <a:xfrm rot="-2700000">
              <a:off x="-71978" y="4051434"/>
              <a:ext cx="6068061" cy="2309888"/>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15" id="15"/>
              <p:cNvSpPr txBox="true"/>
              <p:nvPr/>
            </p:nvSpPr>
            <p:spPr>
              <a:xfrm>
                <a:off x="0" y="-38100"/>
                <a:ext cx="882773" cy="374139"/>
              </a:xfrm>
              <a:prstGeom prst="rect">
                <a:avLst/>
              </a:prstGeom>
            </p:spPr>
            <p:txBody>
              <a:bodyPr anchor="ctr" rtlCol="false" tIns="70135" lIns="70135" bIns="70135" rIns="70135"/>
              <a:lstStyle/>
              <a:p>
                <a:pPr algn="ctr">
                  <a:lnSpc>
                    <a:spcPts val="2899"/>
                  </a:lnSpc>
                </a:pPr>
              </a:p>
            </p:txBody>
          </p:sp>
        </p:grpSp>
      </p:grpSp>
      <p:sp>
        <p:nvSpPr>
          <p:cNvPr name="TextBox 16" id="16"/>
          <p:cNvSpPr txBox="true"/>
          <p:nvPr/>
        </p:nvSpPr>
        <p:spPr>
          <a:xfrm rot="0">
            <a:off x="548726" y="606821"/>
            <a:ext cx="14590753" cy="790575"/>
          </a:xfrm>
          <a:prstGeom prst="rect">
            <a:avLst/>
          </a:prstGeom>
        </p:spPr>
        <p:txBody>
          <a:bodyPr anchor="t" rtlCol="false" tIns="0" lIns="0" bIns="0" rIns="0">
            <a:spAutoFit/>
          </a:bodyPr>
          <a:lstStyle/>
          <a:p>
            <a:pPr algn="l">
              <a:lnSpc>
                <a:spcPts val="6239"/>
              </a:lnSpc>
            </a:pPr>
            <a:r>
              <a:rPr lang="en-US" sz="5199" b="true">
                <a:solidFill>
                  <a:srgbClr val="FDFFF8"/>
                </a:solidFill>
                <a:latin typeface="Heebo Medium"/>
                <a:ea typeface="Heebo Medium"/>
                <a:cs typeface="Heebo Medium"/>
                <a:sym typeface="Heebo Medium"/>
              </a:rPr>
              <a:t>USING THE SAVED MODEL FOR PREDICTIONS</a:t>
            </a:r>
          </a:p>
        </p:txBody>
      </p:sp>
      <p:sp>
        <p:nvSpPr>
          <p:cNvPr name="TextBox 17" id="17"/>
          <p:cNvSpPr txBox="true"/>
          <p:nvPr/>
        </p:nvSpPr>
        <p:spPr>
          <a:xfrm rot="0">
            <a:off x="1028700" y="1672186"/>
            <a:ext cx="16354986" cy="7416294"/>
          </a:xfrm>
          <a:prstGeom prst="rect">
            <a:avLst/>
          </a:prstGeom>
        </p:spPr>
        <p:txBody>
          <a:bodyPr anchor="t" rtlCol="false" tIns="0" lIns="0" bIns="0" rIns="0">
            <a:spAutoFit/>
          </a:bodyPr>
          <a:lstStyle/>
          <a:p>
            <a:pPr algn="just">
              <a:lnSpc>
                <a:spcPts val="4927"/>
              </a:lnSpc>
            </a:pPr>
            <a:r>
              <a:rPr lang="en-US" sz="3519">
                <a:solidFill>
                  <a:srgbClr val="FDFFF8"/>
                </a:solidFill>
                <a:latin typeface="Heebo"/>
                <a:ea typeface="Heebo"/>
                <a:cs typeface="Heebo"/>
                <a:sym typeface="Heebo"/>
              </a:rPr>
              <a:t>1. </a:t>
            </a:r>
            <a:r>
              <a:rPr lang="en-US" sz="3519" b="true">
                <a:solidFill>
                  <a:srgbClr val="FDFFF8"/>
                </a:solidFill>
                <a:latin typeface="Heebo Bold"/>
                <a:ea typeface="Heebo Bold"/>
                <a:cs typeface="Heebo Bold"/>
                <a:sym typeface="Heebo Bold"/>
              </a:rPr>
              <a:t>Load Input Data</a:t>
            </a:r>
            <a:r>
              <a:rPr lang="en-US" sz="3519">
                <a:solidFill>
                  <a:srgbClr val="FDFFF8"/>
                </a:solidFill>
                <a:latin typeface="Heebo"/>
                <a:ea typeface="Heebo"/>
                <a:cs typeface="Heebo"/>
                <a:sym typeface="Heebo"/>
              </a:rPr>
              <a:t>: Read the employee data from a CSV file.</a:t>
            </a:r>
          </a:p>
          <a:p>
            <a:pPr algn="just">
              <a:lnSpc>
                <a:spcPts val="4927"/>
              </a:lnSpc>
            </a:pPr>
            <a:r>
              <a:rPr lang="en-US" sz="3519">
                <a:solidFill>
                  <a:srgbClr val="FDFFF8"/>
                </a:solidFill>
                <a:latin typeface="Heebo"/>
                <a:ea typeface="Heebo"/>
                <a:cs typeface="Heebo"/>
                <a:sym typeface="Heebo"/>
              </a:rPr>
              <a:t>2. </a:t>
            </a:r>
            <a:r>
              <a:rPr lang="en-US" sz="3519" b="true">
                <a:solidFill>
                  <a:srgbClr val="FDFFF8"/>
                </a:solidFill>
                <a:latin typeface="Heebo Bold"/>
                <a:ea typeface="Heebo Bold"/>
                <a:cs typeface="Heebo Bold"/>
                <a:sym typeface="Heebo Bold"/>
              </a:rPr>
              <a:t>Preprocess Data</a:t>
            </a:r>
            <a:r>
              <a:rPr lang="en-US" sz="3519">
                <a:solidFill>
                  <a:srgbClr val="FDFFF8"/>
                </a:solidFill>
                <a:latin typeface="Heebo"/>
                <a:ea typeface="Heebo"/>
                <a:cs typeface="Heebo"/>
                <a:sym typeface="Heebo"/>
              </a:rPr>
              <a:t>:</a:t>
            </a:r>
          </a:p>
          <a:p>
            <a:pPr algn="just">
              <a:lnSpc>
                <a:spcPts val="4927"/>
              </a:lnSpc>
            </a:pPr>
            <a:r>
              <a:rPr lang="en-US" sz="3519">
                <a:solidFill>
                  <a:srgbClr val="FDFFF8"/>
                </a:solidFill>
                <a:latin typeface="Heebo"/>
                <a:ea typeface="Heebo"/>
                <a:cs typeface="Heebo"/>
                <a:sym typeface="Heebo"/>
              </a:rPr>
              <a:t>   - Apply ordinal mappings to categorical columns.</a:t>
            </a:r>
          </a:p>
          <a:p>
            <a:pPr algn="just">
              <a:lnSpc>
                <a:spcPts val="4927"/>
              </a:lnSpc>
            </a:pPr>
            <a:r>
              <a:rPr lang="en-US" sz="3519">
                <a:solidFill>
                  <a:srgbClr val="FDFFF8"/>
                </a:solidFill>
                <a:latin typeface="Heebo"/>
                <a:ea typeface="Heebo"/>
                <a:cs typeface="Heebo"/>
                <a:sym typeface="Heebo"/>
              </a:rPr>
              <a:t>   - Encode binary columns (e.g., 'Yes' → 1, 'No' → 0).</a:t>
            </a:r>
          </a:p>
          <a:p>
            <a:pPr algn="just">
              <a:lnSpc>
                <a:spcPts val="4927"/>
              </a:lnSpc>
            </a:pPr>
            <a:r>
              <a:rPr lang="en-US" sz="3519">
                <a:solidFill>
                  <a:srgbClr val="FDFFF8"/>
                </a:solidFill>
                <a:latin typeface="Heebo"/>
                <a:ea typeface="Heebo"/>
                <a:cs typeface="Heebo"/>
                <a:sym typeface="Heebo"/>
              </a:rPr>
              <a:t>   - Create dummy variables for the 'Marital Status' column.</a:t>
            </a:r>
          </a:p>
          <a:p>
            <a:pPr algn="just">
              <a:lnSpc>
                <a:spcPts val="4927"/>
              </a:lnSpc>
            </a:pPr>
            <a:r>
              <a:rPr lang="en-US" sz="3519">
                <a:solidFill>
                  <a:srgbClr val="FDFFF8"/>
                </a:solidFill>
                <a:latin typeface="Heebo"/>
                <a:ea typeface="Heebo"/>
                <a:cs typeface="Heebo"/>
                <a:sym typeface="Heebo"/>
              </a:rPr>
              <a:t>3. </a:t>
            </a:r>
            <a:r>
              <a:rPr lang="en-US" sz="3519" b="true">
                <a:solidFill>
                  <a:srgbClr val="FDFFF8"/>
                </a:solidFill>
                <a:latin typeface="Heebo Bold"/>
                <a:ea typeface="Heebo Bold"/>
                <a:cs typeface="Heebo Bold"/>
                <a:sym typeface="Heebo Bold"/>
              </a:rPr>
              <a:t>Feature Alignment:</a:t>
            </a:r>
            <a:r>
              <a:rPr lang="en-US" sz="3519">
                <a:solidFill>
                  <a:srgbClr val="FDFFF8"/>
                </a:solidFill>
                <a:latin typeface="Heebo"/>
                <a:ea typeface="Heebo"/>
                <a:cs typeface="Heebo"/>
                <a:sym typeface="Heebo"/>
              </a:rPr>
              <a:t> Ensure the input data has the same features as the trained model.</a:t>
            </a:r>
          </a:p>
          <a:p>
            <a:pPr algn="just">
              <a:lnSpc>
                <a:spcPts val="4927"/>
              </a:lnSpc>
            </a:pPr>
            <a:r>
              <a:rPr lang="en-US" sz="3519">
                <a:solidFill>
                  <a:srgbClr val="FDFFF8"/>
                </a:solidFill>
                <a:latin typeface="Heebo"/>
                <a:ea typeface="Heebo"/>
                <a:cs typeface="Heebo"/>
                <a:sym typeface="Heebo"/>
              </a:rPr>
              <a:t>4. </a:t>
            </a:r>
            <a:r>
              <a:rPr lang="en-US" sz="3519" b="true">
                <a:solidFill>
                  <a:srgbClr val="FDFFF8"/>
                </a:solidFill>
                <a:latin typeface="Heebo Bold"/>
                <a:ea typeface="Heebo Bold"/>
                <a:cs typeface="Heebo Bold"/>
                <a:sym typeface="Heebo Bold"/>
              </a:rPr>
              <a:t>Make Predictions</a:t>
            </a:r>
            <a:r>
              <a:rPr lang="en-US" sz="3519">
                <a:solidFill>
                  <a:srgbClr val="FDFFF8"/>
                </a:solidFill>
                <a:latin typeface="Heebo"/>
                <a:ea typeface="Heebo"/>
                <a:cs typeface="Heebo"/>
                <a:sym typeface="Heebo"/>
              </a:rPr>
              <a:t>: Use the trained QDA model to predict attrition (stay or leave).</a:t>
            </a:r>
          </a:p>
          <a:p>
            <a:pPr algn="just">
              <a:lnSpc>
                <a:spcPts val="4927"/>
              </a:lnSpc>
            </a:pPr>
            <a:r>
              <a:rPr lang="en-US" sz="3519">
                <a:solidFill>
                  <a:srgbClr val="FDFFF8"/>
                </a:solidFill>
                <a:latin typeface="Heebo"/>
                <a:ea typeface="Heebo"/>
                <a:cs typeface="Heebo"/>
                <a:sym typeface="Heebo"/>
              </a:rPr>
              <a:t>5. </a:t>
            </a:r>
            <a:r>
              <a:rPr lang="en-US" sz="3519" b="true">
                <a:solidFill>
                  <a:srgbClr val="FDFFF8"/>
                </a:solidFill>
                <a:latin typeface="Heebo Bold"/>
                <a:ea typeface="Heebo Bold"/>
                <a:cs typeface="Heebo Bold"/>
                <a:sym typeface="Heebo Bold"/>
              </a:rPr>
              <a:t>Post-Processing</a:t>
            </a:r>
            <a:r>
              <a:rPr lang="en-US" sz="3519">
                <a:solidFill>
                  <a:srgbClr val="FDFFF8"/>
                </a:solidFill>
                <a:latin typeface="Heebo"/>
                <a:ea typeface="Heebo"/>
                <a:cs typeface="Heebo"/>
                <a:sym typeface="Heebo"/>
              </a:rPr>
              <a:t>: Decode predicted values and map numerical features back to categories.</a:t>
            </a:r>
          </a:p>
          <a:p>
            <a:pPr algn="just">
              <a:lnSpc>
                <a:spcPts val="4927"/>
              </a:lnSpc>
            </a:pPr>
            <a:r>
              <a:rPr lang="en-US" sz="3519">
                <a:solidFill>
                  <a:srgbClr val="FDFFF8"/>
                </a:solidFill>
                <a:latin typeface="Heebo"/>
                <a:ea typeface="Heebo"/>
                <a:cs typeface="Heebo"/>
                <a:sym typeface="Heebo"/>
              </a:rPr>
              <a:t>6. </a:t>
            </a:r>
            <a:r>
              <a:rPr lang="en-US" sz="3519" b="true">
                <a:solidFill>
                  <a:srgbClr val="FDFFF8"/>
                </a:solidFill>
                <a:latin typeface="Heebo Bold"/>
                <a:ea typeface="Heebo Bold"/>
                <a:cs typeface="Heebo Bold"/>
                <a:sym typeface="Heebo Bold"/>
              </a:rPr>
              <a:t>Calculate Financial Metrics</a:t>
            </a:r>
            <a:r>
              <a:rPr lang="en-US" sz="3519">
                <a:solidFill>
                  <a:srgbClr val="FDFFF8"/>
                </a:solidFill>
                <a:latin typeface="Heebo"/>
                <a:ea typeface="Heebo"/>
                <a:cs typeface="Heebo"/>
                <a:sym typeface="Heebo"/>
              </a:rPr>
              <a:t>: Calculate Annual Income and </a:t>
            </a:r>
            <a:r>
              <a:rPr lang="en-US" sz="3519" b="true">
                <a:solidFill>
                  <a:srgbClr val="FDFFF8"/>
                </a:solidFill>
                <a:latin typeface="Heebo Bold"/>
                <a:ea typeface="Heebo Bold"/>
                <a:cs typeface="Heebo Bold"/>
                <a:sym typeface="Heebo Bold"/>
              </a:rPr>
              <a:t>Replacement Cost.</a:t>
            </a:r>
          </a:p>
          <a:p>
            <a:pPr algn="just">
              <a:lnSpc>
                <a:spcPts val="4927"/>
              </a:lnSpc>
            </a:pPr>
            <a:r>
              <a:rPr lang="en-US" sz="3519">
                <a:solidFill>
                  <a:srgbClr val="FDFFF8"/>
                </a:solidFill>
                <a:latin typeface="Heebo"/>
                <a:ea typeface="Heebo"/>
                <a:cs typeface="Heebo"/>
                <a:sym typeface="Heebo"/>
              </a:rPr>
              <a:t>7. </a:t>
            </a:r>
            <a:r>
              <a:rPr lang="en-US" b="true" sz="3519">
                <a:solidFill>
                  <a:srgbClr val="FDFFF8"/>
                </a:solidFill>
                <a:latin typeface="Heebo Bold"/>
                <a:ea typeface="Heebo Bold"/>
                <a:cs typeface="Heebo Bold"/>
                <a:sym typeface="Heebo Bold"/>
              </a:rPr>
              <a:t>Return At-Risk Employees</a:t>
            </a:r>
            <a:r>
              <a:rPr lang="en-US" sz="3519">
                <a:solidFill>
                  <a:srgbClr val="FDFFF8"/>
                </a:solidFill>
                <a:latin typeface="Heebo"/>
                <a:ea typeface="Heebo"/>
                <a:cs typeface="Heebo"/>
                <a:sym typeface="Heebo"/>
              </a:rPr>
              <a:t>: Filter and return employees predicted to leave.</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5783225" y="-1944168"/>
            <a:ext cx="3735921" cy="4603418"/>
            <a:chOff x="0" y="0"/>
            <a:chExt cx="4981228" cy="6137890"/>
          </a:xfrm>
        </p:grpSpPr>
        <p:grpSp>
          <p:nvGrpSpPr>
            <p:cNvPr name="Group 3" id="3"/>
            <p:cNvGrpSpPr/>
            <p:nvPr/>
          </p:nvGrpSpPr>
          <p:grpSpPr>
            <a:xfrm rot="-2700000">
              <a:off x="-54086" y="3044313"/>
              <a:ext cx="4559639" cy="1735687"/>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DFFF8"/>
              </a:solidFill>
              <a:ln w="19050" cap="sq">
                <a:solidFill>
                  <a:srgbClr val="2D3E96"/>
                </a:solidFill>
                <a:prstDash val="lgDash"/>
                <a:miter/>
              </a:ln>
            </p:spPr>
          </p:sp>
          <p:sp>
            <p:nvSpPr>
              <p:cNvPr name="TextBox 5" id="5"/>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nvGrpSpPr>
            <p:cNvPr name="Group 6" id="6"/>
            <p:cNvGrpSpPr/>
            <p:nvPr/>
          </p:nvGrpSpPr>
          <p:grpSpPr>
            <a:xfrm rot="-2700000">
              <a:off x="475675" y="1357890"/>
              <a:ext cx="4559639" cy="1735687"/>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28575"/>
                <a:ext cx="882773" cy="364614"/>
              </a:xfrm>
              <a:prstGeom prst="rect">
                <a:avLst/>
              </a:prstGeom>
            </p:spPr>
            <p:txBody>
              <a:bodyPr anchor="ctr" rtlCol="false" tIns="52701" lIns="52701" bIns="52701" rIns="52701"/>
              <a:lstStyle/>
              <a:p>
                <a:pPr algn="ctr">
                  <a:lnSpc>
                    <a:spcPts val="2178"/>
                  </a:lnSpc>
                </a:pPr>
              </a:p>
            </p:txBody>
          </p:sp>
        </p:grpSp>
      </p:grpSp>
      <p:grpSp>
        <p:nvGrpSpPr>
          <p:cNvPr name="Group 9" id="9"/>
          <p:cNvGrpSpPr/>
          <p:nvPr/>
        </p:nvGrpSpPr>
        <p:grpSpPr>
          <a:xfrm rot="0">
            <a:off x="-1117955" y="6460168"/>
            <a:ext cx="5004204" cy="6757778"/>
            <a:chOff x="0" y="0"/>
            <a:chExt cx="6672272" cy="9010370"/>
          </a:xfrm>
        </p:grpSpPr>
        <p:grpSp>
          <p:nvGrpSpPr>
            <p:cNvPr name="Group 10" id="10"/>
            <p:cNvGrpSpPr/>
            <p:nvPr/>
          </p:nvGrpSpPr>
          <p:grpSpPr>
            <a:xfrm rot="-2700000">
              <a:off x="-81069" y="2035332"/>
              <a:ext cx="6834410" cy="2601609"/>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lgDash"/>
                <a:miter/>
              </a:ln>
            </p:spPr>
          </p:sp>
          <p:sp>
            <p:nvSpPr>
              <p:cNvPr name="TextBox 12" id="12"/>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nvGrpSpPr>
            <p:cNvPr name="Group 13" id="13"/>
            <p:cNvGrpSpPr/>
            <p:nvPr/>
          </p:nvGrpSpPr>
          <p:grpSpPr>
            <a:xfrm rot="-2700000">
              <a:off x="-81069" y="4373430"/>
              <a:ext cx="6834410" cy="2601609"/>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47625"/>
                <a:ext cx="882773" cy="383664"/>
              </a:xfrm>
              <a:prstGeom prst="rect">
                <a:avLst/>
              </a:prstGeom>
            </p:spPr>
            <p:txBody>
              <a:bodyPr anchor="ctr" rtlCol="false" tIns="119293" lIns="119293" bIns="119293" rIns="119293"/>
              <a:lstStyle/>
              <a:p>
                <a:pPr algn="ctr">
                  <a:lnSpc>
                    <a:spcPts val="3265"/>
                  </a:lnSpc>
                </a:pPr>
              </a:p>
            </p:txBody>
          </p:sp>
        </p:grpSp>
      </p:grpSp>
      <p:sp>
        <p:nvSpPr>
          <p:cNvPr name="Freeform 16" id="16"/>
          <p:cNvSpPr/>
          <p:nvPr/>
        </p:nvSpPr>
        <p:spPr>
          <a:xfrm flipH="false" flipV="false" rot="0">
            <a:off x="3883599" y="1505164"/>
            <a:ext cx="10520801" cy="8333893"/>
          </a:xfrm>
          <a:custGeom>
            <a:avLst/>
            <a:gdLst/>
            <a:ahLst/>
            <a:cxnLst/>
            <a:rect r="r" b="b" t="t" l="l"/>
            <a:pathLst>
              <a:path h="8333893" w="10520801">
                <a:moveTo>
                  <a:pt x="0" y="0"/>
                </a:moveTo>
                <a:lnTo>
                  <a:pt x="10520802" y="0"/>
                </a:lnTo>
                <a:lnTo>
                  <a:pt x="10520802" y="8333893"/>
                </a:lnTo>
                <a:lnTo>
                  <a:pt x="0" y="8333893"/>
                </a:lnTo>
                <a:lnTo>
                  <a:pt x="0" y="0"/>
                </a:lnTo>
                <a:close/>
              </a:path>
            </a:pathLst>
          </a:custGeom>
          <a:blipFill>
            <a:blip r:embed="rId2"/>
            <a:stretch>
              <a:fillRect l="0" t="0" r="0" b="0"/>
            </a:stretch>
          </a:blipFill>
        </p:spPr>
      </p:sp>
      <p:sp>
        <p:nvSpPr>
          <p:cNvPr name="TextBox 17" id="17"/>
          <p:cNvSpPr txBox="true"/>
          <p:nvPr/>
        </p:nvSpPr>
        <p:spPr>
          <a:xfrm rot="0">
            <a:off x="802468" y="525752"/>
            <a:ext cx="14980757" cy="659765"/>
          </a:xfrm>
          <a:prstGeom prst="rect">
            <a:avLst/>
          </a:prstGeom>
        </p:spPr>
        <p:txBody>
          <a:bodyPr anchor="t" rtlCol="false" tIns="0" lIns="0" bIns="0" rIns="0">
            <a:spAutoFit/>
          </a:bodyPr>
          <a:lstStyle/>
          <a:p>
            <a:pPr algn="just">
              <a:lnSpc>
                <a:spcPts val="5169"/>
              </a:lnSpc>
            </a:pPr>
            <a:r>
              <a:rPr lang="en-US" b="true" sz="4699" spc="-46">
                <a:solidFill>
                  <a:srgbClr val="2D3E96"/>
                </a:solidFill>
                <a:latin typeface="Heebo Heavy"/>
                <a:ea typeface="Heebo Heavy"/>
                <a:cs typeface="Heebo Heavy"/>
                <a:sym typeface="Heebo Heavy"/>
              </a:rPr>
              <a:t>CONFUSION MATRIX </a:t>
            </a:r>
          </a:p>
        </p:txBody>
      </p:sp>
    </p:spTree>
  </p:cSld>
  <p:clrMapOvr>
    <a:masterClrMapping/>
  </p:clrMapOvr>
</p:sld>
</file>

<file path=ppt/slides/slide42.xml><?xml version="1.0" encoding="utf-8"?>
<p:sld xmlns:p="http://schemas.openxmlformats.org/presentationml/2006/main" xmlns:a="http://schemas.openxmlformats.org/drawingml/2006/main">
  <p:cSld>
    <p:bg>
      <p:bgPr>
        <a:solidFill>
          <a:srgbClr val="FDFFF8"/>
        </a:solidFill>
      </p:bgPr>
    </p:bg>
    <p:spTree>
      <p:nvGrpSpPr>
        <p:cNvPr id="1" name=""/>
        <p:cNvGrpSpPr/>
        <p:nvPr/>
      </p:nvGrpSpPr>
      <p:grpSpPr>
        <a:xfrm>
          <a:off x="0" y="0"/>
          <a:ext cx="0" cy="0"/>
          <a:chOff x="0" y="0"/>
          <a:chExt cx="0" cy="0"/>
        </a:xfrm>
      </p:grpSpPr>
      <p:grpSp>
        <p:nvGrpSpPr>
          <p:cNvPr name="Group 2" id="2"/>
          <p:cNvGrpSpPr/>
          <p:nvPr/>
        </p:nvGrpSpPr>
        <p:grpSpPr>
          <a:xfrm rot="0">
            <a:off x="-1071290" y="-1235956"/>
            <a:ext cx="3675781" cy="4529312"/>
            <a:chOff x="0" y="0"/>
            <a:chExt cx="4901041" cy="6039083"/>
          </a:xfrm>
        </p:grpSpPr>
        <p:grpSp>
          <p:nvGrpSpPr>
            <p:cNvPr name="Group 3" id="3"/>
            <p:cNvGrpSpPr/>
            <p:nvPr/>
          </p:nvGrpSpPr>
          <p:grpSpPr>
            <a:xfrm rot="-2700000">
              <a:off x="468017" y="1336031"/>
              <a:ext cx="4486238" cy="1707746"/>
              <a:chOff x="0" y="0"/>
              <a:chExt cx="882773" cy="336039"/>
            </a:xfrm>
          </p:grpSpPr>
          <p:sp>
            <p:nvSpPr>
              <p:cNvPr name="Freeform 4" id="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sysDot"/>
                <a:miter/>
              </a:ln>
            </p:spPr>
          </p:sp>
          <p:sp>
            <p:nvSpPr>
              <p:cNvPr name="TextBox 5" id="5"/>
              <p:cNvSpPr txBox="true"/>
              <p:nvPr/>
            </p:nvSpPr>
            <p:spPr>
              <a:xfrm>
                <a:off x="0" y="-38100"/>
                <a:ext cx="882773" cy="374139"/>
              </a:xfrm>
              <a:prstGeom prst="rect">
                <a:avLst/>
              </a:prstGeom>
            </p:spPr>
            <p:txBody>
              <a:bodyPr anchor="ctr" rtlCol="false" tIns="161253" lIns="161253" bIns="161253" rIns="161253"/>
              <a:lstStyle/>
              <a:p>
                <a:pPr algn="ctr">
                  <a:lnSpc>
                    <a:spcPts val="2613"/>
                  </a:lnSpc>
                </a:pPr>
              </a:p>
            </p:txBody>
          </p:sp>
        </p:grpSp>
        <p:grpSp>
          <p:nvGrpSpPr>
            <p:cNvPr name="Group 6" id="6"/>
            <p:cNvGrpSpPr/>
            <p:nvPr/>
          </p:nvGrpSpPr>
          <p:grpSpPr>
            <a:xfrm rot="-2700000">
              <a:off x="-53215" y="2995306"/>
              <a:ext cx="4486238" cy="1707746"/>
              <a:chOff x="0" y="0"/>
              <a:chExt cx="882773" cy="336039"/>
            </a:xfrm>
          </p:grpSpPr>
          <p:sp>
            <p:nvSpPr>
              <p:cNvPr name="Freeform 7" id="7"/>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B639C"/>
              </a:solidFill>
              <a:ln cap="sq">
                <a:noFill/>
                <a:prstDash val="solid"/>
                <a:miter/>
              </a:ln>
            </p:spPr>
          </p:sp>
          <p:sp>
            <p:nvSpPr>
              <p:cNvPr name="TextBox 8" id="8"/>
              <p:cNvSpPr txBox="true"/>
              <p:nvPr/>
            </p:nvSpPr>
            <p:spPr>
              <a:xfrm>
                <a:off x="0" y="-38100"/>
                <a:ext cx="882773" cy="374139"/>
              </a:xfrm>
              <a:prstGeom prst="rect">
                <a:avLst/>
              </a:prstGeom>
            </p:spPr>
            <p:txBody>
              <a:bodyPr anchor="ctr" rtlCol="false" tIns="161253" lIns="161253" bIns="161253" rIns="161253"/>
              <a:lstStyle/>
              <a:p>
                <a:pPr algn="ctr">
                  <a:lnSpc>
                    <a:spcPts val="2613"/>
                  </a:lnSpc>
                </a:pPr>
              </a:p>
            </p:txBody>
          </p:sp>
        </p:grpSp>
      </p:grpSp>
      <p:grpSp>
        <p:nvGrpSpPr>
          <p:cNvPr name="Group 9" id="9"/>
          <p:cNvGrpSpPr/>
          <p:nvPr/>
        </p:nvGrpSpPr>
        <p:grpSpPr>
          <a:xfrm rot="-10800000">
            <a:off x="14599900" y="2535847"/>
            <a:ext cx="7057152" cy="8695852"/>
            <a:chOff x="0" y="0"/>
            <a:chExt cx="9409536" cy="11594470"/>
          </a:xfrm>
        </p:grpSpPr>
        <p:grpSp>
          <p:nvGrpSpPr>
            <p:cNvPr name="Group 10" id="10"/>
            <p:cNvGrpSpPr/>
            <p:nvPr/>
          </p:nvGrpSpPr>
          <p:grpSpPr>
            <a:xfrm rot="-2700000">
              <a:off x="-102168" y="5750705"/>
              <a:ext cx="8613154" cy="3278711"/>
              <a:chOff x="0" y="0"/>
              <a:chExt cx="882773" cy="336039"/>
            </a:xfrm>
          </p:grpSpPr>
          <p:sp>
            <p:nvSpPr>
              <p:cNvPr name="Freeform 11" id="11"/>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D3E96"/>
                </a:solidFill>
                <a:prstDash val="solid"/>
                <a:miter/>
              </a:ln>
            </p:spPr>
          </p:sp>
          <p:sp>
            <p:nvSpPr>
              <p:cNvPr name="TextBox 12" id="12"/>
              <p:cNvSpPr txBox="true"/>
              <p:nvPr/>
            </p:nvSpPr>
            <p:spPr>
              <a:xfrm>
                <a:off x="0" y="-66675"/>
                <a:ext cx="882773" cy="402714"/>
              </a:xfrm>
              <a:prstGeom prst="rect">
                <a:avLst/>
              </a:prstGeom>
            </p:spPr>
            <p:txBody>
              <a:bodyPr anchor="ctr" rtlCol="false" tIns="64644" lIns="64644" bIns="64644" rIns="64644"/>
              <a:lstStyle/>
              <a:p>
                <a:pPr algn="ctr">
                  <a:lnSpc>
                    <a:spcPts val="4115"/>
                  </a:lnSpc>
                </a:pPr>
              </a:p>
            </p:txBody>
          </p:sp>
        </p:grpSp>
        <p:grpSp>
          <p:nvGrpSpPr>
            <p:cNvPr name="Group 13" id="13"/>
            <p:cNvGrpSpPr/>
            <p:nvPr/>
          </p:nvGrpSpPr>
          <p:grpSpPr>
            <a:xfrm rot="-2700000">
              <a:off x="898549" y="2565054"/>
              <a:ext cx="8613154" cy="3278711"/>
              <a:chOff x="0" y="0"/>
              <a:chExt cx="882773" cy="336039"/>
            </a:xfrm>
          </p:grpSpPr>
          <p:sp>
            <p:nvSpPr>
              <p:cNvPr name="Freeform 14" id="14"/>
              <p:cNvSpPr/>
              <p:nvPr/>
            </p:nvSpPr>
            <p:spPr>
              <a:xfrm flipH="false" flipV="false" rot="0">
                <a:off x="0" y="0"/>
                <a:ext cx="882773" cy="336039"/>
              </a:xfrm>
              <a:custGeom>
                <a:avLst/>
                <a:gdLst/>
                <a:ahLst/>
                <a:cxnLst/>
                <a:rect r="r" b="b" t="t" l="l"/>
                <a:pathLst>
                  <a:path h="336039" w="882773">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FFCE00"/>
              </a:solidFill>
              <a:ln cap="sq">
                <a:noFill/>
                <a:prstDash val="solid"/>
                <a:miter/>
              </a:ln>
            </p:spPr>
          </p:sp>
          <p:sp>
            <p:nvSpPr>
              <p:cNvPr name="TextBox 15" id="15"/>
              <p:cNvSpPr txBox="true"/>
              <p:nvPr/>
            </p:nvSpPr>
            <p:spPr>
              <a:xfrm>
                <a:off x="0" y="-66675"/>
                <a:ext cx="882773" cy="402714"/>
              </a:xfrm>
              <a:prstGeom prst="rect">
                <a:avLst/>
              </a:prstGeom>
            </p:spPr>
            <p:txBody>
              <a:bodyPr anchor="ctr" rtlCol="false" tIns="64644" lIns="64644" bIns="64644" rIns="64644"/>
              <a:lstStyle/>
              <a:p>
                <a:pPr algn="ctr">
                  <a:lnSpc>
                    <a:spcPts val="4115"/>
                  </a:lnSpc>
                </a:pPr>
              </a:p>
            </p:txBody>
          </p:sp>
        </p:grpSp>
      </p:grpSp>
      <p:grpSp>
        <p:nvGrpSpPr>
          <p:cNvPr name="Group 16" id="16"/>
          <p:cNvGrpSpPr/>
          <p:nvPr/>
        </p:nvGrpSpPr>
        <p:grpSpPr>
          <a:xfrm rot="0">
            <a:off x="5723214" y="4581451"/>
            <a:ext cx="6841573" cy="2525547"/>
            <a:chOff x="0" y="0"/>
            <a:chExt cx="9122097" cy="3367396"/>
          </a:xfrm>
        </p:grpSpPr>
        <p:sp>
          <p:nvSpPr>
            <p:cNvPr name="TextBox 17" id="17"/>
            <p:cNvSpPr txBox="true"/>
            <p:nvPr/>
          </p:nvSpPr>
          <p:spPr>
            <a:xfrm rot="0">
              <a:off x="0" y="2556319"/>
              <a:ext cx="9122097" cy="811078"/>
            </a:xfrm>
            <a:prstGeom prst="rect">
              <a:avLst/>
            </a:prstGeom>
          </p:spPr>
          <p:txBody>
            <a:bodyPr anchor="t" rtlCol="false" tIns="0" lIns="0" bIns="0" rIns="0">
              <a:spAutoFit/>
            </a:bodyPr>
            <a:lstStyle/>
            <a:p>
              <a:pPr algn="l">
                <a:lnSpc>
                  <a:spcPts val="5143"/>
                </a:lnSpc>
              </a:pPr>
            </a:p>
          </p:txBody>
        </p:sp>
        <p:sp>
          <p:nvSpPr>
            <p:cNvPr name="TextBox 18" id="18"/>
            <p:cNvSpPr txBox="true"/>
            <p:nvPr/>
          </p:nvSpPr>
          <p:spPr>
            <a:xfrm rot="0">
              <a:off x="0" y="85725"/>
              <a:ext cx="9122097" cy="1839045"/>
            </a:xfrm>
            <a:prstGeom prst="rect">
              <a:avLst/>
            </a:prstGeom>
          </p:spPr>
          <p:txBody>
            <a:bodyPr anchor="t" rtlCol="false" tIns="0" lIns="0" bIns="0" rIns="0">
              <a:spAutoFit/>
            </a:bodyPr>
            <a:lstStyle/>
            <a:p>
              <a:pPr algn="just">
                <a:lnSpc>
                  <a:spcPts val="10451"/>
                </a:lnSpc>
              </a:pPr>
              <a:r>
                <a:rPr lang="en-US" b="true" sz="9501" spc="-95">
                  <a:solidFill>
                    <a:srgbClr val="2D3E96"/>
                  </a:solidFill>
                  <a:latin typeface="Heebo Heavy"/>
                  <a:ea typeface="Heebo Heavy"/>
                  <a:cs typeface="Heebo Heavy"/>
                  <a:sym typeface="Heebo Heavy"/>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DAGUaG2Fc24</dc:identifier>
  <dcterms:modified xsi:type="dcterms:W3CDTF">2011-08-01T06:04:30Z</dcterms:modified>
  <cp:revision>1</cp:revision>
  <dc:title>Employee Onboarding Professional Presentation in Dark Blue Yellow Pink Geometric Style</dc:title>
</cp:coreProperties>
</file>